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al-Time Water Quality Monitoring System Using Edge Intelligence" id="{EE2101BF-938C-4ED4-83DA-1CF47A6AC01D}">
          <p14:sldIdLst>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3DE91-08DD-43B3-ACC7-439ADA0BD224}" v="224" dt="2026-01-12T18:17:31.2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diagrams/_rels/data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570D2A-19D6-49E9-BFE6-7D536BCDC665}" type="doc">
      <dgm:prSet loTypeId="urn:microsoft.com/office/officeart/2024/3/layout/verticalVisualTextBlock1" loCatId="Picture" qsTypeId="urn:microsoft.com/office/officeart/2005/8/quickstyle/simple4" qsCatId="simple" csTypeId="urn:microsoft.com/office/officeart/2005/8/colors/colorful2" csCatId="colorful" phldr="1"/>
      <dgm:spPr/>
      <dgm:t>
        <a:bodyPr/>
        <a:lstStyle/>
        <a:p>
          <a:endParaRPr lang="ro-RO"/>
        </a:p>
      </dgm:t>
    </dgm:pt>
    <dgm:pt modelId="{A1D91BAB-CDF3-4B9B-808B-1D25998E4466}">
      <dgm:prSet/>
      <dgm:spPr/>
      <dgm:t>
        <a:bodyPr/>
        <a:lstStyle/>
        <a:p>
          <a:pPr>
            <a:defRPr b="1"/>
          </a:pPr>
          <a:r>
            <a:rPr lang="ro-RO"/>
            <a:t>Project Aim</a:t>
          </a:r>
        </a:p>
      </dgm:t>
    </dgm:pt>
    <dgm:pt modelId="{67851242-B7BD-4064-BFF1-5A9E21D9193A}" type="parTrans" cxnId="{9CCA46D2-F7B5-4481-A348-2859A55900DE}">
      <dgm:prSet/>
      <dgm:spPr/>
      <dgm:t>
        <a:bodyPr/>
        <a:lstStyle/>
        <a:p>
          <a:endParaRPr lang="ro-RO"/>
        </a:p>
      </dgm:t>
    </dgm:pt>
    <dgm:pt modelId="{35913A2E-E60F-4A7B-BC5A-7A63E9EBF77D}" type="sibTrans" cxnId="{9CCA46D2-F7B5-4481-A348-2859A55900DE}">
      <dgm:prSet/>
      <dgm:spPr/>
      <dgm:t>
        <a:bodyPr/>
        <a:lstStyle/>
        <a:p>
          <a:pPr>
            <a:defRPr b="1"/>
          </a:pPr>
          <a:endParaRPr lang="ro-RO"/>
        </a:p>
      </dgm:t>
    </dgm:pt>
    <dgm:pt modelId="{874595FA-E7A8-45B0-90CC-B9D5638E1CCD}">
      <dgm:prSet/>
      <dgm:spPr/>
      <dgm:t>
        <a:bodyPr/>
        <a:lstStyle/>
        <a:p>
          <a:r>
            <a:rPr lang="ro-RO"/>
            <a:t>Develop a lightweight IoT system to detect water pollution in real time using edge devices.</a:t>
          </a:r>
        </a:p>
      </dgm:t>
    </dgm:pt>
    <dgm:pt modelId="{E81478BD-05EC-468C-8A63-E4D1A2024F66}" type="parTrans" cxnId="{6B3747EF-6FCD-454F-B5B0-4D208996DDD1}">
      <dgm:prSet/>
      <dgm:spPr/>
      <dgm:t>
        <a:bodyPr/>
        <a:lstStyle/>
        <a:p>
          <a:endParaRPr lang="ro-RO"/>
        </a:p>
      </dgm:t>
    </dgm:pt>
    <dgm:pt modelId="{95E1F66D-6AE1-4320-829B-21BCDE68AEFF}" type="sibTrans" cxnId="{6B3747EF-6FCD-454F-B5B0-4D208996DDD1}">
      <dgm:prSet/>
      <dgm:spPr/>
      <dgm:t>
        <a:bodyPr/>
        <a:lstStyle/>
        <a:p>
          <a:endParaRPr lang="ro-RO"/>
        </a:p>
      </dgm:t>
    </dgm:pt>
    <dgm:pt modelId="{EFDD74A5-F9C8-413D-A94C-AAD3DF280A3F}">
      <dgm:prSet/>
      <dgm:spPr/>
      <dgm:t>
        <a:bodyPr/>
        <a:lstStyle/>
        <a:p>
          <a:pPr>
            <a:defRPr b="1"/>
          </a:pPr>
          <a:r>
            <a:rPr lang="ro-RO"/>
            <a:t>Efficient Operation</a:t>
          </a:r>
        </a:p>
      </dgm:t>
    </dgm:pt>
    <dgm:pt modelId="{F7AB3BB4-275D-4A1D-8404-9C79EC9300B8}" type="parTrans" cxnId="{0EBAAFAA-668C-4588-8D83-211BC7C6E46E}">
      <dgm:prSet/>
      <dgm:spPr/>
      <dgm:t>
        <a:bodyPr/>
        <a:lstStyle/>
        <a:p>
          <a:endParaRPr lang="ro-RO"/>
        </a:p>
      </dgm:t>
    </dgm:pt>
    <dgm:pt modelId="{DFCCDF9A-C5A3-4A46-8F13-772A4076D62D}" type="sibTrans" cxnId="{0EBAAFAA-668C-4588-8D83-211BC7C6E46E}">
      <dgm:prSet/>
      <dgm:spPr/>
      <dgm:t>
        <a:bodyPr/>
        <a:lstStyle/>
        <a:p>
          <a:pPr>
            <a:defRPr b="1"/>
          </a:pPr>
          <a:endParaRPr lang="ro-RO"/>
        </a:p>
      </dgm:t>
    </dgm:pt>
    <dgm:pt modelId="{2064D527-8DE0-401A-B361-25D057E37B8C}">
      <dgm:prSet/>
      <dgm:spPr/>
      <dgm:t>
        <a:bodyPr/>
        <a:lstStyle/>
        <a:p>
          <a:r>
            <a:rPr lang="ro-RO"/>
            <a:t>Use statistical methods to ensure efficient operation on resource-constrained, low-power edge hardware.</a:t>
          </a:r>
        </a:p>
      </dgm:t>
    </dgm:pt>
    <dgm:pt modelId="{352493BF-46ED-469A-B5CF-65753334F581}" type="parTrans" cxnId="{590EAE2C-9BC7-4995-B87D-AEBFFD22054F}">
      <dgm:prSet/>
      <dgm:spPr/>
      <dgm:t>
        <a:bodyPr/>
        <a:lstStyle/>
        <a:p>
          <a:endParaRPr lang="ro-RO"/>
        </a:p>
      </dgm:t>
    </dgm:pt>
    <dgm:pt modelId="{00E3B70A-B280-4BA8-A35A-45B39E39B753}" type="sibTrans" cxnId="{590EAE2C-9BC7-4995-B87D-AEBFFD22054F}">
      <dgm:prSet/>
      <dgm:spPr/>
      <dgm:t>
        <a:bodyPr/>
        <a:lstStyle/>
        <a:p>
          <a:endParaRPr lang="ro-RO"/>
        </a:p>
      </dgm:t>
    </dgm:pt>
    <dgm:pt modelId="{D1EA9F4F-16E3-4530-B37A-198685583F9C}">
      <dgm:prSet/>
      <dgm:spPr/>
      <dgm:t>
        <a:bodyPr/>
        <a:lstStyle/>
        <a:p>
          <a:pPr>
            <a:defRPr b="1"/>
          </a:pPr>
          <a:r>
            <a:rPr lang="ro-RO"/>
            <a:t>Environmental Monitoring</a:t>
          </a:r>
        </a:p>
      </dgm:t>
    </dgm:pt>
    <dgm:pt modelId="{219398A4-75ED-4BE0-8979-0B538CF41FEC}" type="parTrans" cxnId="{B3A0B1F2-B8D8-4D56-A5CC-0CBEA80C8BE0}">
      <dgm:prSet/>
      <dgm:spPr/>
      <dgm:t>
        <a:bodyPr/>
        <a:lstStyle/>
        <a:p>
          <a:endParaRPr lang="ro-RO"/>
        </a:p>
      </dgm:t>
    </dgm:pt>
    <dgm:pt modelId="{7AC3F9B9-FB2E-4EE0-A85F-F0B7049F9B30}" type="sibTrans" cxnId="{B3A0B1F2-B8D8-4D56-A5CC-0CBEA80C8BE0}">
      <dgm:prSet/>
      <dgm:spPr/>
      <dgm:t>
        <a:bodyPr/>
        <a:lstStyle/>
        <a:p>
          <a:endParaRPr lang="ro-RO"/>
        </a:p>
      </dgm:t>
    </dgm:pt>
    <dgm:pt modelId="{45667387-2CD4-459A-8E36-C9AC05646EEC}">
      <dgm:prSet/>
      <dgm:spPr/>
      <dgm:t>
        <a:bodyPr/>
        <a:lstStyle/>
        <a:p>
          <a:r>
            <a:rPr lang="ro-RO"/>
            <a:t>Enable rapid detection of pollution to support timely environmental monitoring and response.</a:t>
          </a:r>
        </a:p>
      </dgm:t>
    </dgm:pt>
    <dgm:pt modelId="{1E840CBC-E810-4156-83B5-1C5CA0244252}" type="parTrans" cxnId="{260B5286-F8A7-4998-AE4D-A61FACD5246E}">
      <dgm:prSet/>
      <dgm:spPr/>
      <dgm:t>
        <a:bodyPr/>
        <a:lstStyle/>
        <a:p>
          <a:endParaRPr lang="ro-RO"/>
        </a:p>
      </dgm:t>
    </dgm:pt>
    <dgm:pt modelId="{4AA764D5-D1AE-4AD3-AE25-F6205D8C0A16}" type="sibTrans" cxnId="{260B5286-F8A7-4998-AE4D-A61FACD5246E}">
      <dgm:prSet/>
      <dgm:spPr/>
      <dgm:t>
        <a:bodyPr/>
        <a:lstStyle/>
        <a:p>
          <a:endParaRPr lang="ro-RO"/>
        </a:p>
      </dgm:t>
    </dgm:pt>
    <dgm:pt modelId="{30CF9917-6584-48B9-A618-F8828BFD7868}" type="pres">
      <dgm:prSet presAssocID="{85570D2A-19D6-49E9-BFE6-7D536BCDC665}" presName="Root" presStyleCnt="0">
        <dgm:presLayoutVars>
          <dgm:dir/>
          <dgm:resizeHandles val="exact"/>
        </dgm:presLayoutVars>
      </dgm:prSet>
      <dgm:spPr/>
    </dgm:pt>
    <dgm:pt modelId="{8394852F-D6B4-4E87-A9D7-9152DCA74FE1}" type="pres">
      <dgm:prSet presAssocID="{A1D91BAB-CDF3-4B9B-808B-1D25998E4466}" presName="Composite" presStyleCnt="0"/>
      <dgm:spPr/>
    </dgm:pt>
    <dgm:pt modelId="{3A247A04-6453-4655-8FD3-EE2FA428C55E}" type="pres">
      <dgm:prSet presAssocID="{A1D91BAB-CDF3-4B9B-808B-1D25998E446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0909" r="4093" b="3"/>
          <a:stretch>
            <a:fillRect l="-17000" r="-17000"/>
          </a:stretch>
        </a:blipFill>
      </dgm:spPr>
      <dgm:extLst>
        <a:ext uri="{E40237B7-FDA0-4F09-8148-C483321AD2D9}">
          <dgm14:cNvPr xmlns:dgm14="http://schemas.microsoft.com/office/drawing/2010/diagram" id="0" name="" descr="Lămpi LÂNGĂ LAC"/>
        </a:ext>
      </dgm:extLst>
    </dgm:pt>
    <dgm:pt modelId="{DCDE378D-8764-47CF-9501-B35C0433EB93}" type="pres">
      <dgm:prSet presAssocID="{A1D91BAB-CDF3-4B9B-808B-1D25998E4466}" presName="Subtitle" presStyleLbl="revTx" presStyleIdx="0" presStyleCnt="6">
        <dgm:presLayoutVars>
          <dgm:chMax val="0"/>
          <dgm:bulletEnabled/>
        </dgm:presLayoutVars>
      </dgm:prSet>
      <dgm:spPr/>
    </dgm:pt>
    <dgm:pt modelId="{AF426DEA-DE42-4236-B0F4-9D2DC66AC527}" type="pres">
      <dgm:prSet presAssocID="{A1D91BAB-CDF3-4B9B-808B-1D25998E4466}" presName="Description" presStyleLbl="revTx" presStyleIdx="1" presStyleCnt="6">
        <dgm:presLayoutVars>
          <dgm:bulletEnabled/>
        </dgm:presLayoutVars>
      </dgm:prSet>
      <dgm:spPr/>
    </dgm:pt>
    <dgm:pt modelId="{7FF896B6-158C-44CD-90AB-B793DBA9F8A6}" type="pres">
      <dgm:prSet presAssocID="{35913A2E-E60F-4A7B-BC5A-7A63E9EBF77D}" presName="sibTrans" presStyleLbl="sibTrans2D1" presStyleIdx="0" presStyleCnt="0"/>
      <dgm:spPr/>
    </dgm:pt>
    <dgm:pt modelId="{0CC98259-CCA0-4D89-8C59-15D23513D16C}" type="pres">
      <dgm:prSet presAssocID="{EFDD74A5-F9C8-413D-A94C-AAD3DF280A3F}" presName="Composite" presStyleCnt="0"/>
      <dgm:spPr/>
    </dgm:pt>
    <dgm:pt modelId="{0555DEAC-C667-48FC-A911-E15DE8647D1A}" type="pres">
      <dgm:prSet presAssocID="{EFDD74A5-F9C8-413D-A94C-AAD3DF280A3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7127" r="16124" b="2"/>
          <a:stretch>
            <a:fillRect l="-25000" r="-25000"/>
          </a:stretch>
        </a:blipFill>
      </dgm:spPr>
      <dgm:extLst>
        <a:ext uri="{E40237B7-FDA0-4F09-8148-C483321AD2D9}">
          <dgm14:cNvPr xmlns:dgm14="http://schemas.microsoft.com/office/drawing/2010/diagram" id="0" name="" descr="În viitorul apropiat, telefoanele inteligente și terminalele tabletelor vor fi depuse în mâinile roboților inteligenți artificiali. Toate informațiile sunt disponibile prin cloud computing,&#10;Cumpărăturile, telemedicina, educația, telemunca, totul este automatizat. În același timp, sistemul de monitorizare va fi consolidat pentru siguranță."/>
        </a:ext>
      </dgm:extLst>
    </dgm:pt>
    <dgm:pt modelId="{8671BB8E-0E64-4504-B22C-DF4ADF35673C}" type="pres">
      <dgm:prSet presAssocID="{EFDD74A5-F9C8-413D-A94C-AAD3DF280A3F}" presName="Subtitle" presStyleLbl="revTx" presStyleIdx="2" presStyleCnt="6">
        <dgm:presLayoutVars>
          <dgm:chMax val="0"/>
          <dgm:bulletEnabled/>
        </dgm:presLayoutVars>
      </dgm:prSet>
      <dgm:spPr/>
    </dgm:pt>
    <dgm:pt modelId="{798626B9-0F0B-482E-8FBD-2AF3E33E0E7E}" type="pres">
      <dgm:prSet presAssocID="{EFDD74A5-F9C8-413D-A94C-AAD3DF280A3F}" presName="Description" presStyleLbl="revTx" presStyleIdx="3" presStyleCnt="6">
        <dgm:presLayoutVars>
          <dgm:bulletEnabled/>
        </dgm:presLayoutVars>
      </dgm:prSet>
      <dgm:spPr/>
    </dgm:pt>
    <dgm:pt modelId="{8D7C5385-6E16-4F8C-ABC5-C5570350416C}" type="pres">
      <dgm:prSet presAssocID="{DFCCDF9A-C5A3-4A46-8F13-772A4076D62D}" presName="sibTrans" presStyleLbl="sibTrans2D1" presStyleIdx="0" presStyleCnt="0"/>
      <dgm:spPr/>
    </dgm:pt>
    <dgm:pt modelId="{660AB217-1D84-4A7D-867F-71BA890264D1}" type="pres">
      <dgm:prSet presAssocID="{D1EA9F4F-16E3-4530-B37A-198685583F9C}" presName="Composite" presStyleCnt="0"/>
      <dgm:spPr/>
    </dgm:pt>
    <dgm:pt modelId="{6625C33F-F0F9-4342-A0D3-E0538DAC28A1}" type="pres">
      <dgm:prSet presAssocID="{D1EA9F4F-16E3-4530-B37A-198685583F9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0927" r="2324" b="2"/>
          <a:stretch>
            <a:fillRect l="-25000" r="-25000"/>
          </a:stretch>
        </a:blipFill>
      </dgm:spPr>
      <dgm:extLst>
        <a:ext uri="{E40237B7-FDA0-4F09-8148-C483321AD2D9}">
          <dgm14:cNvPr xmlns:dgm14="http://schemas.microsoft.com/office/drawing/2010/diagram" id="0" name="" descr="Pilot automat fără șofer, vehicul autonom"/>
        </a:ext>
      </dgm:extLst>
    </dgm:pt>
    <dgm:pt modelId="{34A69C31-BCD6-4D8C-B729-92418110A8A5}" type="pres">
      <dgm:prSet presAssocID="{D1EA9F4F-16E3-4530-B37A-198685583F9C}" presName="Subtitle" presStyleLbl="revTx" presStyleIdx="4" presStyleCnt="6">
        <dgm:presLayoutVars>
          <dgm:chMax val="0"/>
          <dgm:bulletEnabled/>
        </dgm:presLayoutVars>
      </dgm:prSet>
      <dgm:spPr/>
    </dgm:pt>
    <dgm:pt modelId="{10B9A672-3909-49B0-8249-77D7C3922FE1}" type="pres">
      <dgm:prSet presAssocID="{D1EA9F4F-16E3-4530-B37A-198685583F9C}" presName="Description" presStyleLbl="revTx" presStyleIdx="5" presStyleCnt="6">
        <dgm:presLayoutVars>
          <dgm:bulletEnabled/>
        </dgm:presLayoutVars>
      </dgm:prSet>
      <dgm:spPr/>
    </dgm:pt>
  </dgm:ptLst>
  <dgm:cxnLst>
    <dgm:cxn modelId="{722C0C1B-0E3F-4D72-A8C7-42068E50D643}" type="presOf" srcId="{874595FA-E7A8-45B0-90CC-B9D5638E1CCD}" destId="{AF426DEA-DE42-4236-B0F4-9D2DC66AC527}" srcOrd="0" destOrd="0" presId="urn:microsoft.com/office/officeart/2024/3/layout/verticalVisualTextBlock1"/>
    <dgm:cxn modelId="{590EAE2C-9BC7-4995-B87D-AEBFFD22054F}" srcId="{EFDD74A5-F9C8-413D-A94C-AAD3DF280A3F}" destId="{2064D527-8DE0-401A-B361-25D057E37B8C}" srcOrd="0" destOrd="0" parTransId="{352493BF-46ED-469A-B5CF-65753334F581}" sibTransId="{00E3B70A-B280-4BA8-A35A-45B39E39B753}"/>
    <dgm:cxn modelId="{05BF4532-1786-4C72-868B-1B3F1FF1C369}" type="presOf" srcId="{45667387-2CD4-459A-8E36-C9AC05646EEC}" destId="{10B9A672-3909-49B0-8249-77D7C3922FE1}" srcOrd="0" destOrd="0" presId="urn:microsoft.com/office/officeart/2024/3/layout/verticalVisualTextBlock1"/>
    <dgm:cxn modelId="{E4FC1E67-511E-4FE6-91BA-D3832F9E74E0}" type="presOf" srcId="{DFCCDF9A-C5A3-4A46-8F13-772A4076D62D}" destId="{8D7C5385-6E16-4F8C-ABC5-C5570350416C}" srcOrd="0" destOrd="0" presId="urn:microsoft.com/office/officeart/2024/3/layout/verticalVisualTextBlock1"/>
    <dgm:cxn modelId="{05FDC46E-A2CE-4550-BE4E-C06B406E564D}" type="presOf" srcId="{A1D91BAB-CDF3-4B9B-808B-1D25998E4466}" destId="{DCDE378D-8764-47CF-9501-B35C0433EB93}" srcOrd="0" destOrd="0" presId="urn:microsoft.com/office/officeart/2024/3/layout/verticalVisualTextBlock1"/>
    <dgm:cxn modelId="{41A19057-5DA8-48CB-A38D-54C07F285AC0}" type="presOf" srcId="{85570D2A-19D6-49E9-BFE6-7D536BCDC665}" destId="{30CF9917-6584-48B9-A618-F8828BFD7868}" srcOrd="0" destOrd="0" presId="urn:microsoft.com/office/officeart/2024/3/layout/verticalVisualTextBlock1"/>
    <dgm:cxn modelId="{260B5286-F8A7-4998-AE4D-A61FACD5246E}" srcId="{D1EA9F4F-16E3-4530-B37A-198685583F9C}" destId="{45667387-2CD4-459A-8E36-C9AC05646EEC}" srcOrd="0" destOrd="0" parTransId="{1E840CBC-E810-4156-83B5-1C5CA0244252}" sibTransId="{4AA764D5-D1AE-4AD3-AE25-F6205D8C0A16}"/>
    <dgm:cxn modelId="{607C7488-A505-4DD6-9E47-D9DAC7C31EB9}" type="presOf" srcId="{EFDD74A5-F9C8-413D-A94C-AAD3DF280A3F}" destId="{8671BB8E-0E64-4504-B22C-DF4ADF35673C}" srcOrd="0" destOrd="0" presId="urn:microsoft.com/office/officeart/2024/3/layout/verticalVisualTextBlock1"/>
    <dgm:cxn modelId="{0EBAAFAA-668C-4588-8D83-211BC7C6E46E}" srcId="{85570D2A-19D6-49E9-BFE6-7D536BCDC665}" destId="{EFDD74A5-F9C8-413D-A94C-AAD3DF280A3F}" srcOrd="1" destOrd="0" parTransId="{F7AB3BB4-275D-4A1D-8404-9C79EC9300B8}" sibTransId="{DFCCDF9A-C5A3-4A46-8F13-772A4076D62D}"/>
    <dgm:cxn modelId="{22C3F9AA-5B01-4149-96A1-2BB4CFBB04E2}" type="presOf" srcId="{D1EA9F4F-16E3-4530-B37A-198685583F9C}" destId="{34A69C31-BCD6-4D8C-B729-92418110A8A5}" srcOrd="0" destOrd="0" presId="urn:microsoft.com/office/officeart/2024/3/layout/verticalVisualTextBlock1"/>
    <dgm:cxn modelId="{9CCA46D2-F7B5-4481-A348-2859A55900DE}" srcId="{85570D2A-19D6-49E9-BFE6-7D536BCDC665}" destId="{A1D91BAB-CDF3-4B9B-808B-1D25998E4466}" srcOrd="0" destOrd="0" parTransId="{67851242-B7BD-4064-BFF1-5A9E21D9193A}" sibTransId="{35913A2E-E60F-4A7B-BC5A-7A63E9EBF77D}"/>
    <dgm:cxn modelId="{6B658FD3-1383-4A02-A7CD-7F6E36AC8930}" type="presOf" srcId="{2064D527-8DE0-401A-B361-25D057E37B8C}" destId="{798626B9-0F0B-482E-8FBD-2AF3E33E0E7E}" srcOrd="0" destOrd="0" presId="urn:microsoft.com/office/officeart/2024/3/layout/verticalVisualTextBlock1"/>
    <dgm:cxn modelId="{6B3747EF-6FCD-454F-B5B0-4D208996DDD1}" srcId="{A1D91BAB-CDF3-4B9B-808B-1D25998E4466}" destId="{874595FA-E7A8-45B0-90CC-B9D5638E1CCD}" srcOrd="0" destOrd="0" parTransId="{E81478BD-05EC-468C-8A63-E4D1A2024F66}" sibTransId="{95E1F66D-6AE1-4320-829B-21BCDE68AEFF}"/>
    <dgm:cxn modelId="{A2373BF2-EA7F-48D4-AE4E-6F2433F472DF}" type="presOf" srcId="{35913A2E-E60F-4A7B-BC5A-7A63E9EBF77D}" destId="{7FF896B6-158C-44CD-90AB-B793DBA9F8A6}" srcOrd="0" destOrd="0" presId="urn:microsoft.com/office/officeart/2024/3/layout/verticalVisualTextBlock1"/>
    <dgm:cxn modelId="{B3A0B1F2-B8D8-4D56-A5CC-0CBEA80C8BE0}" srcId="{85570D2A-19D6-49E9-BFE6-7D536BCDC665}" destId="{D1EA9F4F-16E3-4530-B37A-198685583F9C}" srcOrd="2" destOrd="0" parTransId="{219398A4-75ED-4BE0-8979-0B538CF41FEC}" sibTransId="{7AC3F9B9-FB2E-4EE0-A85F-F0B7049F9B30}"/>
    <dgm:cxn modelId="{818E4E11-2740-431D-8550-DD43BC196C86}" type="presParOf" srcId="{30CF9917-6584-48B9-A618-F8828BFD7868}" destId="{8394852F-D6B4-4E87-A9D7-9152DCA74FE1}" srcOrd="0" destOrd="0" presId="urn:microsoft.com/office/officeart/2024/3/layout/verticalVisualTextBlock1"/>
    <dgm:cxn modelId="{1C65205A-2AD1-48F4-A506-6663B7298A93}" type="presParOf" srcId="{8394852F-D6B4-4E87-A9D7-9152DCA74FE1}" destId="{3A247A04-6453-4655-8FD3-EE2FA428C55E}" srcOrd="0" destOrd="0" presId="urn:microsoft.com/office/officeart/2024/3/layout/verticalVisualTextBlock1"/>
    <dgm:cxn modelId="{687E5F45-7C53-48CD-A084-AC6D38C58C64}" type="presParOf" srcId="{8394852F-D6B4-4E87-A9D7-9152DCA74FE1}" destId="{DCDE378D-8764-47CF-9501-B35C0433EB93}" srcOrd="1" destOrd="0" presId="urn:microsoft.com/office/officeart/2024/3/layout/verticalVisualTextBlock1"/>
    <dgm:cxn modelId="{435D2883-D03E-4EAD-B33A-A7F9BD9A4AD7}" type="presParOf" srcId="{8394852F-D6B4-4E87-A9D7-9152DCA74FE1}" destId="{AF426DEA-DE42-4236-B0F4-9D2DC66AC527}" srcOrd="2" destOrd="0" presId="urn:microsoft.com/office/officeart/2024/3/layout/verticalVisualTextBlock1"/>
    <dgm:cxn modelId="{095AB2B8-53E0-4428-8707-5A9163B0FC5D}" type="presParOf" srcId="{30CF9917-6584-48B9-A618-F8828BFD7868}" destId="{7FF896B6-158C-44CD-90AB-B793DBA9F8A6}" srcOrd="1" destOrd="0" presId="urn:microsoft.com/office/officeart/2024/3/layout/verticalVisualTextBlock1"/>
    <dgm:cxn modelId="{CD9C48FB-3E94-4A4B-8447-2EFB49508BBE}" type="presParOf" srcId="{30CF9917-6584-48B9-A618-F8828BFD7868}" destId="{0CC98259-CCA0-4D89-8C59-15D23513D16C}" srcOrd="2" destOrd="0" presId="urn:microsoft.com/office/officeart/2024/3/layout/verticalVisualTextBlock1"/>
    <dgm:cxn modelId="{B75FFC83-FF9F-4E36-B00A-CF52841ED95F}" type="presParOf" srcId="{0CC98259-CCA0-4D89-8C59-15D23513D16C}" destId="{0555DEAC-C667-48FC-A911-E15DE8647D1A}" srcOrd="0" destOrd="0" presId="urn:microsoft.com/office/officeart/2024/3/layout/verticalVisualTextBlock1"/>
    <dgm:cxn modelId="{29C1AE72-1CBD-47BF-AA24-83B6D77F7D06}" type="presParOf" srcId="{0CC98259-CCA0-4D89-8C59-15D23513D16C}" destId="{8671BB8E-0E64-4504-B22C-DF4ADF35673C}" srcOrd="1" destOrd="0" presId="urn:microsoft.com/office/officeart/2024/3/layout/verticalVisualTextBlock1"/>
    <dgm:cxn modelId="{DA4F1D30-D5E6-4D75-AB06-D37CD8F7A56C}" type="presParOf" srcId="{0CC98259-CCA0-4D89-8C59-15D23513D16C}" destId="{798626B9-0F0B-482E-8FBD-2AF3E33E0E7E}" srcOrd="2" destOrd="0" presId="urn:microsoft.com/office/officeart/2024/3/layout/verticalVisualTextBlock1"/>
    <dgm:cxn modelId="{63157187-9C94-4508-8100-24040205A502}" type="presParOf" srcId="{30CF9917-6584-48B9-A618-F8828BFD7868}" destId="{8D7C5385-6E16-4F8C-ABC5-C5570350416C}" srcOrd="3" destOrd="0" presId="urn:microsoft.com/office/officeart/2024/3/layout/verticalVisualTextBlock1"/>
    <dgm:cxn modelId="{8140C10A-5131-4704-8E10-742CA5536B1D}" type="presParOf" srcId="{30CF9917-6584-48B9-A618-F8828BFD7868}" destId="{660AB217-1D84-4A7D-867F-71BA890264D1}" srcOrd="4" destOrd="0" presId="urn:microsoft.com/office/officeart/2024/3/layout/verticalVisualTextBlock1"/>
    <dgm:cxn modelId="{6DADEF32-7FFF-476E-B34B-A3929C5D0CFE}" type="presParOf" srcId="{660AB217-1D84-4A7D-867F-71BA890264D1}" destId="{6625C33F-F0F9-4342-A0D3-E0538DAC28A1}" srcOrd="0" destOrd="0" presId="urn:microsoft.com/office/officeart/2024/3/layout/verticalVisualTextBlock1"/>
    <dgm:cxn modelId="{A880CB20-1249-4C68-AAEB-4F7CB2912B56}" type="presParOf" srcId="{660AB217-1D84-4A7D-867F-71BA890264D1}" destId="{34A69C31-BCD6-4D8C-B729-92418110A8A5}" srcOrd="1" destOrd="0" presId="urn:microsoft.com/office/officeart/2024/3/layout/verticalVisualTextBlock1"/>
    <dgm:cxn modelId="{343BB4A8-370A-43B1-9782-65F25EF92394}" type="presParOf" srcId="{660AB217-1D84-4A7D-867F-71BA890264D1}" destId="{10B9A672-3909-49B0-8249-77D7C3922FE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A3C389-EEE6-44F0-BE9D-1C995CEDC34D}"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ro-RO"/>
        </a:p>
      </dgm:t>
    </dgm:pt>
    <dgm:pt modelId="{A16C164A-C98B-41A5-AAAE-3DF9575607B9}">
      <dgm:prSet/>
      <dgm:spPr/>
      <dgm:t>
        <a:bodyPr/>
        <a:lstStyle/>
        <a:p>
          <a:pPr algn="l">
            <a:lnSpc>
              <a:spcPct val="100000"/>
            </a:lnSpc>
            <a:defRPr b="1"/>
          </a:pPr>
          <a:r>
            <a:rPr lang="ro-RO" b="0" dirty="0" err="1">
              <a:latin typeface="Aptos"/>
              <a:ea typeface="+mn-ea"/>
              <a:cs typeface="+mn-cs"/>
            </a:rPr>
            <a:t>Adaptation</a:t>
          </a:r>
          <a:r>
            <a:rPr lang="ro-RO" b="0" dirty="0">
              <a:latin typeface="Aptos"/>
              <a:ea typeface="+mn-ea"/>
              <a:cs typeface="+mn-cs"/>
            </a:rPr>
            <a:t> </a:t>
          </a:r>
          <a:r>
            <a:rPr lang="ro-RO" b="0" dirty="0" err="1">
              <a:latin typeface="Aptos"/>
              <a:ea typeface="+mn-ea"/>
              <a:cs typeface="+mn-cs"/>
            </a:rPr>
            <a:t>to</a:t>
          </a:r>
          <a:r>
            <a:rPr lang="ro-RO" b="0" dirty="0">
              <a:latin typeface="Aptos"/>
              <a:ea typeface="+mn-ea"/>
              <a:cs typeface="+mn-cs"/>
            </a:rPr>
            <a:t> </a:t>
          </a:r>
          <a:r>
            <a:rPr lang="ro-RO" b="0" dirty="0" err="1">
              <a:latin typeface="Aptos"/>
              <a:ea typeface="+mn-ea"/>
              <a:cs typeface="+mn-cs"/>
            </a:rPr>
            <a:t>sensor</a:t>
          </a:r>
          <a:r>
            <a:rPr lang="ro-RO" b="0" dirty="0">
              <a:latin typeface="Aptos"/>
              <a:ea typeface="+mn-ea"/>
              <a:cs typeface="+mn-cs"/>
            </a:rPr>
            <a:t> </a:t>
          </a:r>
          <a:r>
            <a:rPr lang="ro-RO" b="0" dirty="0" err="1">
              <a:latin typeface="Aptos"/>
              <a:ea typeface="+mn-ea"/>
              <a:cs typeface="+mn-cs"/>
            </a:rPr>
            <a:t>drift</a:t>
          </a:r>
          <a:r>
            <a:rPr lang="ro-RO" b="0" dirty="0">
              <a:latin typeface="Aptos"/>
              <a:ea typeface="+mn-ea"/>
              <a:cs typeface="+mn-cs"/>
            </a:rPr>
            <a:t> </a:t>
          </a:r>
          <a:endParaRPr lang="ro-RO" dirty="0">
            <a:latin typeface="Aptos"/>
            <a:ea typeface="+mn-ea"/>
            <a:cs typeface="+mn-cs"/>
          </a:endParaRPr>
        </a:p>
      </dgm:t>
    </dgm:pt>
    <dgm:pt modelId="{E006ACB5-369B-4E83-A05B-D162D89AED21}" type="parTrans" cxnId="{8363EECC-477D-4C98-A9B9-2E72B6D1EED5}">
      <dgm:prSet/>
      <dgm:spPr/>
      <dgm:t>
        <a:bodyPr/>
        <a:lstStyle/>
        <a:p>
          <a:endParaRPr lang="ro-RO"/>
        </a:p>
      </dgm:t>
    </dgm:pt>
    <dgm:pt modelId="{A568B94F-4838-4C2D-A510-375A4DE0223C}" type="sibTrans" cxnId="{8363EECC-477D-4C98-A9B9-2E72B6D1EED5}">
      <dgm:prSet/>
      <dgm:spPr/>
      <dgm:t>
        <a:bodyPr/>
        <a:lstStyle/>
        <a:p>
          <a:pPr>
            <a:lnSpc>
              <a:spcPct val="100000"/>
            </a:lnSpc>
            <a:defRPr b="1"/>
          </a:pPr>
          <a:endParaRPr lang="ro-RO"/>
        </a:p>
      </dgm:t>
    </dgm:pt>
    <dgm:pt modelId="{1E2CA6C1-0F09-43D6-8E54-CD2292642928}">
      <dgm:prSet/>
      <dgm:spPr/>
      <dgm:t>
        <a:bodyPr/>
        <a:lstStyle/>
        <a:p>
          <a:pPr algn="l" rtl="0">
            <a:lnSpc>
              <a:spcPct val="100000"/>
            </a:lnSpc>
          </a:pPr>
          <a:r>
            <a:rPr lang="ro-RO" sz="1400" dirty="0">
              <a:latin typeface="Aptos" panose="020B0004020202020204"/>
              <a:ea typeface="+mn-ea"/>
              <a:cs typeface="+mn-cs"/>
            </a:rPr>
            <a:t>The system quickly detects real anomalies, efficiently adapting to sensor drift without false alarms.</a:t>
          </a:r>
        </a:p>
      </dgm:t>
    </dgm:pt>
    <dgm:pt modelId="{7C98DEA7-C296-459E-A815-26646DC20F7F}" type="parTrans" cxnId="{F3E05A9F-B37C-4B4F-B56A-12C9669EFF9F}">
      <dgm:prSet/>
      <dgm:spPr/>
      <dgm:t>
        <a:bodyPr/>
        <a:lstStyle/>
        <a:p>
          <a:endParaRPr lang="ro-RO"/>
        </a:p>
      </dgm:t>
    </dgm:pt>
    <dgm:pt modelId="{4B903043-49E9-4275-ADDD-C970AE39B6EE}" type="sibTrans" cxnId="{F3E05A9F-B37C-4B4F-B56A-12C9669EFF9F}">
      <dgm:prSet/>
      <dgm:spPr/>
      <dgm:t>
        <a:bodyPr/>
        <a:lstStyle/>
        <a:p>
          <a:endParaRPr lang="ro-RO"/>
        </a:p>
      </dgm:t>
    </dgm:pt>
    <dgm:pt modelId="{7A58892C-0F44-4C24-A4A7-10A9BC48831F}">
      <dgm:prSet/>
      <dgm:spPr/>
      <dgm:t>
        <a:bodyPr/>
        <a:lstStyle/>
        <a:p>
          <a:pPr algn="l">
            <a:lnSpc>
              <a:spcPct val="100000"/>
            </a:lnSpc>
            <a:defRPr b="1"/>
          </a:pPr>
          <a:r>
            <a:rPr lang="ro-RO" b="0" dirty="0">
              <a:latin typeface="Aptos" panose="020B0004020202020204"/>
              <a:ea typeface="+mn-ea"/>
              <a:cs typeface="+mn-cs"/>
            </a:rPr>
            <a:t>Current limitations</a:t>
          </a:r>
          <a:endParaRPr lang="ro-RO" dirty="0">
            <a:latin typeface="Aptos" panose="020B0004020202020204"/>
            <a:ea typeface="+mn-ea"/>
            <a:cs typeface="+mn-cs"/>
          </a:endParaRPr>
        </a:p>
      </dgm:t>
    </dgm:pt>
    <dgm:pt modelId="{62C67DF3-10DE-488B-B771-B2CFB9ED8E9A}" type="parTrans" cxnId="{D3CC6782-8B49-46B3-86C2-2319BDAD65DE}">
      <dgm:prSet/>
      <dgm:spPr/>
      <dgm:t>
        <a:bodyPr/>
        <a:lstStyle/>
        <a:p>
          <a:endParaRPr lang="ro-RO"/>
        </a:p>
      </dgm:t>
    </dgm:pt>
    <dgm:pt modelId="{11203B0B-1F19-42F9-97E3-C4256A094A0F}" type="sibTrans" cxnId="{D3CC6782-8B49-46B3-86C2-2319BDAD65DE}">
      <dgm:prSet/>
      <dgm:spPr/>
      <dgm:t>
        <a:bodyPr/>
        <a:lstStyle/>
        <a:p>
          <a:pPr>
            <a:lnSpc>
              <a:spcPct val="100000"/>
            </a:lnSpc>
            <a:defRPr b="1"/>
          </a:pPr>
          <a:endParaRPr lang="ro-RO"/>
        </a:p>
      </dgm:t>
    </dgm:pt>
    <dgm:pt modelId="{0160C4B3-96AA-4055-AADF-2D585B21F9C7}">
      <dgm:prSet/>
      <dgm:spPr/>
      <dgm:t>
        <a:bodyPr/>
        <a:lstStyle/>
        <a:p>
          <a:pPr algn="l" rtl="0">
            <a:lnSpc>
              <a:spcPct val="100000"/>
            </a:lnSpc>
          </a:pPr>
          <a:r>
            <a:rPr lang="ro-RO" sz="1400" dirty="0">
              <a:latin typeface="Aptos" panose="020B0004020202020204"/>
              <a:ea typeface="+mn-ea"/>
              <a:cs typeface="+mn-cs"/>
            </a:rPr>
            <a:t>Implementation on real hardware and integration of IoT protocols such as MQTT are future plans.</a:t>
          </a:r>
        </a:p>
      </dgm:t>
    </dgm:pt>
    <dgm:pt modelId="{79088705-6683-4823-9A7C-DC4B3B3D3749}" type="parTrans" cxnId="{71E3E2AA-876A-4F33-9EEA-5419BDD98D4C}">
      <dgm:prSet/>
      <dgm:spPr/>
      <dgm:t>
        <a:bodyPr/>
        <a:lstStyle/>
        <a:p>
          <a:endParaRPr lang="ro-RO"/>
        </a:p>
      </dgm:t>
    </dgm:pt>
    <dgm:pt modelId="{14CE3779-6872-4936-8F50-4C14521474F8}" type="sibTrans" cxnId="{71E3E2AA-876A-4F33-9EEA-5419BDD98D4C}">
      <dgm:prSet/>
      <dgm:spPr/>
      <dgm:t>
        <a:bodyPr/>
        <a:lstStyle/>
        <a:p>
          <a:endParaRPr lang="ro-RO"/>
        </a:p>
      </dgm:t>
    </dgm:pt>
    <dgm:pt modelId="{B140C5F1-90A3-49A9-AC95-1B904A906232}">
      <dgm:prSet/>
      <dgm:spPr/>
      <dgm:t>
        <a:bodyPr/>
        <a:lstStyle/>
        <a:p>
          <a:pPr algn="l">
            <a:lnSpc>
              <a:spcPct val="100000"/>
            </a:lnSpc>
            <a:defRPr b="1"/>
          </a:pPr>
          <a:r>
            <a:rPr lang="ro-RO" b="0" dirty="0">
              <a:latin typeface="Aptos" panose="020B0004020202020204"/>
              <a:ea typeface="+mn-ea"/>
              <a:cs typeface="+mn-cs"/>
            </a:rPr>
            <a:t>Planned future work </a:t>
          </a:r>
          <a:endParaRPr lang="ro-RO" dirty="0">
            <a:latin typeface="Aptos" panose="020B0004020202020204"/>
            <a:ea typeface="+mn-ea"/>
            <a:cs typeface="+mn-cs"/>
          </a:endParaRPr>
        </a:p>
      </dgm:t>
    </dgm:pt>
    <dgm:pt modelId="{FB18C265-69A1-4CAA-BDD0-7BEF32972148}" type="parTrans" cxnId="{84FF4816-2FA8-4740-AE8F-C7F2DB9D950B}">
      <dgm:prSet/>
      <dgm:spPr/>
      <dgm:t>
        <a:bodyPr/>
        <a:lstStyle/>
        <a:p>
          <a:endParaRPr lang="ro-RO"/>
        </a:p>
      </dgm:t>
    </dgm:pt>
    <dgm:pt modelId="{64AFCD0D-BAC3-4A29-8BE2-6741BE97CB28}" type="sibTrans" cxnId="{84FF4816-2FA8-4740-AE8F-C7F2DB9D950B}">
      <dgm:prSet/>
      <dgm:spPr/>
      <dgm:t>
        <a:bodyPr/>
        <a:lstStyle/>
        <a:p>
          <a:endParaRPr lang="ro-RO"/>
        </a:p>
      </dgm:t>
    </dgm:pt>
    <dgm:pt modelId="{7B1A8CD3-0B6B-4716-A90D-7DED7128705E}">
      <dgm:prSet/>
      <dgm:spPr/>
      <dgm:t>
        <a:bodyPr/>
        <a:lstStyle/>
        <a:p>
          <a:pPr algn="l">
            <a:lnSpc>
              <a:spcPct val="100000"/>
            </a:lnSpc>
          </a:pPr>
          <a:r>
            <a:rPr lang="ro-RO" sz="1400" dirty="0">
              <a:latin typeface="Aptos" panose="020B0004020202020204"/>
              <a:ea typeface="+mn-ea"/>
              <a:cs typeface="+mn-cs"/>
            </a:rPr>
            <a:t>Porting to ESP32 and integration of a dashboard for extended scalability will be carried out.</a:t>
          </a:r>
        </a:p>
      </dgm:t>
    </dgm:pt>
    <dgm:pt modelId="{ECC49658-FCB8-48B2-BBF6-77D5B84909FC}" type="parTrans" cxnId="{21D54D83-44D3-4335-BEFA-13F7647C77EC}">
      <dgm:prSet/>
      <dgm:spPr/>
      <dgm:t>
        <a:bodyPr/>
        <a:lstStyle/>
        <a:p>
          <a:endParaRPr lang="ro-RO"/>
        </a:p>
      </dgm:t>
    </dgm:pt>
    <dgm:pt modelId="{4456C209-3B78-4805-B157-1CA0FB7ACA55}" type="sibTrans" cxnId="{21D54D83-44D3-4335-BEFA-13F7647C77EC}">
      <dgm:prSet/>
      <dgm:spPr/>
      <dgm:t>
        <a:bodyPr/>
        <a:lstStyle/>
        <a:p>
          <a:endParaRPr lang="ro-RO"/>
        </a:p>
      </dgm:t>
    </dgm:pt>
    <dgm:pt modelId="{0FFB1732-5168-4F40-87F1-98DFA05006D6}" type="pres">
      <dgm:prSet presAssocID="{2FA3C389-EEE6-44F0-BE9D-1C995CEDC34D}" presName="Root" presStyleCnt="0">
        <dgm:presLayoutVars>
          <dgm:dir/>
          <dgm:resizeHandles val="exact"/>
        </dgm:presLayoutVars>
      </dgm:prSet>
      <dgm:spPr/>
    </dgm:pt>
    <dgm:pt modelId="{5F6ACF13-443F-4F19-8D89-8BFDF1E224B7}" type="pres">
      <dgm:prSet presAssocID="{A16C164A-C98B-41A5-AAAE-3DF9575607B9}" presName="Composite" presStyleCnt="0"/>
      <dgm:spPr/>
    </dgm:pt>
    <dgm:pt modelId="{AEC5FC7F-B51A-425F-9C76-D24B43982935}" type="pres">
      <dgm:prSet presAssocID="{A16C164A-C98B-41A5-AAAE-3DF9575607B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 r="-9" b="-8"/>
          <a:stretch>
            <a:fillRect/>
          </a:stretch>
        </a:blipFill>
      </dgm:spPr>
      <dgm:extLst>
        <a:ext uri="{E40237B7-FDA0-4F09-8148-C483321AD2D9}">
          <dgm14:cNvPr xmlns:dgm14="http://schemas.microsoft.com/office/drawing/2010/diagram" id="0" name="" descr="http://teekid.com/istockphoto/banner/banner3.jpg"/>
        </a:ext>
      </dgm:extLst>
    </dgm:pt>
    <dgm:pt modelId="{C08113BE-0ED3-4919-8EA2-D5266697E801}" type="pres">
      <dgm:prSet presAssocID="{A16C164A-C98B-41A5-AAAE-3DF9575607B9}" presName="Subtitle" presStyleLbl="revTx" presStyleIdx="0" presStyleCnt="6">
        <dgm:presLayoutVars>
          <dgm:chMax val="0"/>
          <dgm:bulletEnabled/>
        </dgm:presLayoutVars>
      </dgm:prSet>
      <dgm:spPr/>
    </dgm:pt>
    <dgm:pt modelId="{DA90ABCF-F9D2-480B-B935-F2AF55197212}" type="pres">
      <dgm:prSet presAssocID="{A16C164A-C98B-41A5-AAAE-3DF9575607B9}" presName="Description" presStyleLbl="revTx" presStyleIdx="1" presStyleCnt="6">
        <dgm:presLayoutVars>
          <dgm:bulletEnabled/>
        </dgm:presLayoutVars>
      </dgm:prSet>
      <dgm:spPr/>
    </dgm:pt>
    <dgm:pt modelId="{60A09D6D-55D7-40D4-B1A1-1371DFCC90EE}" type="pres">
      <dgm:prSet presAssocID="{A568B94F-4838-4C2D-A510-375A4DE0223C}" presName="sibTrans" presStyleLbl="sibTrans2D1" presStyleIdx="0" presStyleCnt="0"/>
      <dgm:spPr/>
    </dgm:pt>
    <dgm:pt modelId="{5B3905D6-54ED-49EA-9E14-6F96DFE06118}" type="pres">
      <dgm:prSet presAssocID="{7A58892C-0F44-4C24-A4A7-10A9BC48831F}" presName="Composite" presStyleCnt="0"/>
      <dgm:spPr/>
    </dgm:pt>
    <dgm:pt modelId="{0F2710FE-7D6F-4561-A636-02D5A803CE0D}" type="pres">
      <dgm:prSet presAssocID="{7A58892C-0F44-4C24-A4A7-10A9BC48831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5920" r="7827" b="-6"/>
          <a:stretch>
            <a:fillRect l="-39000" r="-39000"/>
          </a:stretch>
        </a:blipFill>
      </dgm:spPr>
      <dgm:extLst>
        <a:ext uri="{E40237B7-FDA0-4F09-8148-C483321AD2D9}">
          <dgm14:cNvPr xmlns:dgm14="http://schemas.microsoft.com/office/drawing/2010/diagram" id="0" name="" descr="Background în tehnologia abstractă"/>
        </a:ext>
      </dgm:extLst>
    </dgm:pt>
    <dgm:pt modelId="{8D60E281-E7F7-4F53-83F4-D7EACDE767A8}" type="pres">
      <dgm:prSet presAssocID="{7A58892C-0F44-4C24-A4A7-10A9BC48831F}" presName="Subtitle" presStyleLbl="revTx" presStyleIdx="2" presStyleCnt="6">
        <dgm:presLayoutVars>
          <dgm:chMax val="0"/>
          <dgm:bulletEnabled/>
        </dgm:presLayoutVars>
      </dgm:prSet>
      <dgm:spPr/>
    </dgm:pt>
    <dgm:pt modelId="{73D82770-9A53-463C-9AA9-6A1BA937A06C}" type="pres">
      <dgm:prSet presAssocID="{7A58892C-0F44-4C24-A4A7-10A9BC48831F}" presName="Description" presStyleLbl="revTx" presStyleIdx="3" presStyleCnt="6">
        <dgm:presLayoutVars>
          <dgm:bulletEnabled/>
        </dgm:presLayoutVars>
      </dgm:prSet>
      <dgm:spPr/>
    </dgm:pt>
    <dgm:pt modelId="{94850E04-BE46-41D8-9A20-6EA9CB9F9156}" type="pres">
      <dgm:prSet presAssocID="{11203B0B-1F19-42F9-97E3-C4256A094A0F}" presName="sibTrans" presStyleLbl="sibTrans2D1" presStyleIdx="0" presStyleCnt="0"/>
      <dgm:spPr/>
    </dgm:pt>
    <dgm:pt modelId="{A9D7DAD9-E846-4935-BFF0-03A3089A47C3}" type="pres">
      <dgm:prSet presAssocID="{B140C5F1-90A3-49A9-AC95-1B904A906232}" presName="Composite" presStyleCnt="0"/>
      <dgm:spPr/>
    </dgm:pt>
    <dgm:pt modelId="{052EF89D-7449-4360-93BC-8039F266FDEA}" type="pres">
      <dgm:prSet presAssocID="{B140C5F1-90A3-49A9-AC95-1B904A90623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2487" r="11260" b="-6"/>
          <a:stretch>
            <a:fillRect l="-39000" r="-39000"/>
          </a:stretch>
        </a:blipFill>
      </dgm:spPr>
      <dgm:extLst>
        <a:ext uri="{E40237B7-FDA0-4F09-8148-C483321AD2D9}">
          <dgm14:cNvPr xmlns:dgm14="http://schemas.microsoft.com/office/drawing/2010/diagram" id="0" name="" descr="Grafic financiar digital"/>
        </a:ext>
      </dgm:extLst>
    </dgm:pt>
    <dgm:pt modelId="{313318F6-8D71-458D-8C35-DA94147244A5}" type="pres">
      <dgm:prSet presAssocID="{B140C5F1-90A3-49A9-AC95-1B904A906232}" presName="Subtitle" presStyleLbl="revTx" presStyleIdx="4" presStyleCnt="6">
        <dgm:presLayoutVars>
          <dgm:chMax val="0"/>
          <dgm:bulletEnabled/>
        </dgm:presLayoutVars>
      </dgm:prSet>
      <dgm:spPr/>
    </dgm:pt>
    <dgm:pt modelId="{A24F044F-972F-46F4-9870-9D220DC6E79F}" type="pres">
      <dgm:prSet presAssocID="{B140C5F1-90A3-49A9-AC95-1B904A906232}" presName="Description" presStyleLbl="revTx" presStyleIdx="5" presStyleCnt="6">
        <dgm:presLayoutVars>
          <dgm:bulletEnabled/>
        </dgm:presLayoutVars>
      </dgm:prSet>
      <dgm:spPr/>
    </dgm:pt>
  </dgm:ptLst>
  <dgm:cxnLst>
    <dgm:cxn modelId="{88C3C711-06C0-4388-900B-42F3C892114A}" type="presOf" srcId="{7A58892C-0F44-4C24-A4A7-10A9BC48831F}" destId="{8D60E281-E7F7-4F53-83F4-D7EACDE767A8}" srcOrd="0" destOrd="0" presId="urn:microsoft.com/office/officeart/2024/3/layout/verticalVisualTextBlock1"/>
    <dgm:cxn modelId="{84FF4816-2FA8-4740-AE8F-C7F2DB9D950B}" srcId="{2FA3C389-EEE6-44F0-BE9D-1C995CEDC34D}" destId="{B140C5F1-90A3-49A9-AC95-1B904A906232}" srcOrd="2" destOrd="0" parTransId="{FB18C265-69A1-4CAA-BDD0-7BEF32972148}" sibTransId="{64AFCD0D-BAC3-4A29-8BE2-6741BE97CB28}"/>
    <dgm:cxn modelId="{D71C2621-3891-4F5B-9992-437BAC577009}" type="presOf" srcId="{0160C4B3-96AA-4055-AADF-2D585B21F9C7}" destId="{73D82770-9A53-463C-9AA9-6A1BA937A06C}" srcOrd="0" destOrd="0" presId="urn:microsoft.com/office/officeart/2024/3/layout/verticalVisualTextBlock1"/>
    <dgm:cxn modelId="{D6819D22-4913-4C62-BD7C-8D0F0494F2EF}" type="presOf" srcId="{A568B94F-4838-4C2D-A510-375A4DE0223C}" destId="{60A09D6D-55D7-40D4-B1A1-1371DFCC90EE}" srcOrd="0" destOrd="0" presId="urn:microsoft.com/office/officeart/2024/3/layout/verticalVisualTextBlock1"/>
    <dgm:cxn modelId="{BB791C28-B335-425C-BC5D-530DC258FA61}" type="presOf" srcId="{A16C164A-C98B-41A5-AAAE-3DF9575607B9}" destId="{C08113BE-0ED3-4919-8EA2-D5266697E801}" srcOrd="0" destOrd="0" presId="urn:microsoft.com/office/officeart/2024/3/layout/verticalVisualTextBlock1"/>
    <dgm:cxn modelId="{FA907B30-80A5-4592-979B-DD9E8945F097}" type="presOf" srcId="{B140C5F1-90A3-49A9-AC95-1B904A906232}" destId="{313318F6-8D71-458D-8C35-DA94147244A5}" srcOrd="0" destOrd="0" presId="urn:microsoft.com/office/officeart/2024/3/layout/verticalVisualTextBlock1"/>
    <dgm:cxn modelId="{703A8336-477D-4174-9CBB-E318FF6E7D1A}" type="presOf" srcId="{1E2CA6C1-0F09-43D6-8E54-CD2292642928}" destId="{DA90ABCF-F9D2-480B-B935-F2AF55197212}" srcOrd="0" destOrd="0" presId="urn:microsoft.com/office/officeart/2024/3/layout/verticalVisualTextBlock1"/>
    <dgm:cxn modelId="{571DD96E-F3E1-4EAA-91D9-BBECC766510E}" type="presOf" srcId="{11203B0B-1F19-42F9-97E3-C4256A094A0F}" destId="{94850E04-BE46-41D8-9A20-6EA9CB9F9156}" srcOrd="0" destOrd="0" presId="urn:microsoft.com/office/officeart/2024/3/layout/verticalVisualTextBlock1"/>
    <dgm:cxn modelId="{D3CC6782-8B49-46B3-86C2-2319BDAD65DE}" srcId="{2FA3C389-EEE6-44F0-BE9D-1C995CEDC34D}" destId="{7A58892C-0F44-4C24-A4A7-10A9BC48831F}" srcOrd="1" destOrd="0" parTransId="{62C67DF3-10DE-488B-B771-B2CFB9ED8E9A}" sibTransId="{11203B0B-1F19-42F9-97E3-C4256A094A0F}"/>
    <dgm:cxn modelId="{21D54D83-44D3-4335-BEFA-13F7647C77EC}" srcId="{B140C5F1-90A3-49A9-AC95-1B904A906232}" destId="{7B1A8CD3-0B6B-4716-A90D-7DED7128705E}" srcOrd="0" destOrd="0" parTransId="{ECC49658-FCB8-48B2-BBF6-77D5B84909FC}" sibTransId="{4456C209-3B78-4805-B157-1CA0FB7ACA55}"/>
    <dgm:cxn modelId="{F3E05A9F-B37C-4B4F-B56A-12C9669EFF9F}" srcId="{A16C164A-C98B-41A5-AAAE-3DF9575607B9}" destId="{1E2CA6C1-0F09-43D6-8E54-CD2292642928}" srcOrd="0" destOrd="0" parTransId="{7C98DEA7-C296-459E-A815-26646DC20F7F}" sibTransId="{4B903043-49E9-4275-ADDD-C970AE39B6EE}"/>
    <dgm:cxn modelId="{71E3E2AA-876A-4F33-9EEA-5419BDD98D4C}" srcId="{7A58892C-0F44-4C24-A4A7-10A9BC48831F}" destId="{0160C4B3-96AA-4055-AADF-2D585B21F9C7}" srcOrd="0" destOrd="0" parTransId="{79088705-6683-4823-9A7C-DC4B3B3D3749}" sibTransId="{14CE3779-6872-4936-8F50-4C14521474F8}"/>
    <dgm:cxn modelId="{8363EECC-477D-4C98-A9B9-2E72B6D1EED5}" srcId="{2FA3C389-EEE6-44F0-BE9D-1C995CEDC34D}" destId="{A16C164A-C98B-41A5-AAAE-3DF9575607B9}" srcOrd="0" destOrd="0" parTransId="{E006ACB5-369B-4E83-A05B-D162D89AED21}" sibTransId="{A568B94F-4838-4C2D-A510-375A4DE0223C}"/>
    <dgm:cxn modelId="{317DBAD5-5B54-4D7B-A672-95987714389E}" type="presOf" srcId="{2FA3C389-EEE6-44F0-BE9D-1C995CEDC34D}" destId="{0FFB1732-5168-4F40-87F1-98DFA05006D6}" srcOrd="0" destOrd="0" presId="urn:microsoft.com/office/officeart/2024/3/layout/verticalVisualTextBlock1"/>
    <dgm:cxn modelId="{3D2B15F4-F0D5-4F9E-9742-E00D8862B9AC}" type="presOf" srcId="{7B1A8CD3-0B6B-4716-A90D-7DED7128705E}" destId="{A24F044F-972F-46F4-9870-9D220DC6E79F}" srcOrd="0" destOrd="0" presId="urn:microsoft.com/office/officeart/2024/3/layout/verticalVisualTextBlock1"/>
    <dgm:cxn modelId="{278CF8DB-296B-4244-A697-6D929D5FC066}" type="presParOf" srcId="{0FFB1732-5168-4F40-87F1-98DFA05006D6}" destId="{5F6ACF13-443F-4F19-8D89-8BFDF1E224B7}" srcOrd="0" destOrd="0" presId="urn:microsoft.com/office/officeart/2024/3/layout/verticalVisualTextBlock1"/>
    <dgm:cxn modelId="{2DD17B09-BC02-4924-9071-9FC1D14C49AD}" type="presParOf" srcId="{5F6ACF13-443F-4F19-8D89-8BFDF1E224B7}" destId="{AEC5FC7F-B51A-425F-9C76-D24B43982935}" srcOrd="0" destOrd="0" presId="urn:microsoft.com/office/officeart/2024/3/layout/verticalVisualTextBlock1"/>
    <dgm:cxn modelId="{42CC6B9D-2EFB-448B-B2DE-069E31093AFE}" type="presParOf" srcId="{5F6ACF13-443F-4F19-8D89-8BFDF1E224B7}" destId="{C08113BE-0ED3-4919-8EA2-D5266697E801}" srcOrd="1" destOrd="0" presId="urn:microsoft.com/office/officeart/2024/3/layout/verticalVisualTextBlock1"/>
    <dgm:cxn modelId="{B3C26C83-E059-4353-B047-48AF47476C72}" type="presParOf" srcId="{5F6ACF13-443F-4F19-8D89-8BFDF1E224B7}" destId="{DA90ABCF-F9D2-480B-B935-F2AF55197212}" srcOrd="2" destOrd="0" presId="urn:microsoft.com/office/officeart/2024/3/layout/verticalVisualTextBlock1"/>
    <dgm:cxn modelId="{5C3D28E5-5444-4FAE-87E7-FB779B821BF0}" type="presParOf" srcId="{0FFB1732-5168-4F40-87F1-98DFA05006D6}" destId="{60A09D6D-55D7-40D4-B1A1-1371DFCC90EE}" srcOrd="1" destOrd="0" presId="urn:microsoft.com/office/officeart/2024/3/layout/verticalVisualTextBlock1"/>
    <dgm:cxn modelId="{7BD4C9CE-E12C-4A4C-AF70-5E6000E59107}" type="presParOf" srcId="{0FFB1732-5168-4F40-87F1-98DFA05006D6}" destId="{5B3905D6-54ED-49EA-9E14-6F96DFE06118}" srcOrd="2" destOrd="0" presId="urn:microsoft.com/office/officeart/2024/3/layout/verticalVisualTextBlock1"/>
    <dgm:cxn modelId="{798AF89C-37F5-444A-97A7-CF7580CE9B3C}" type="presParOf" srcId="{5B3905D6-54ED-49EA-9E14-6F96DFE06118}" destId="{0F2710FE-7D6F-4561-A636-02D5A803CE0D}" srcOrd="0" destOrd="0" presId="urn:microsoft.com/office/officeart/2024/3/layout/verticalVisualTextBlock1"/>
    <dgm:cxn modelId="{BDBF66DC-2C5D-41FA-9365-312D70411872}" type="presParOf" srcId="{5B3905D6-54ED-49EA-9E14-6F96DFE06118}" destId="{8D60E281-E7F7-4F53-83F4-D7EACDE767A8}" srcOrd="1" destOrd="0" presId="urn:microsoft.com/office/officeart/2024/3/layout/verticalVisualTextBlock1"/>
    <dgm:cxn modelId="{F565D728-2268-4AAD-8427-39CA84110A4A}" type="presParOf" srcId="{5B3905D6-54ED-49EA-9E14-6F96DFE06118}" destId="{73D82770-9A53-463C-9AA9-6A1BA937A06C}" srcOrd="2" destOrd="0" presId="urn:microsoft.com/office/officeart/2024/3/layout/verticalVisualTextBlock1"/>
    <dgm:cxn modelId="{BEAB7886-75E0-458A-9714-F8DC0DE977B6}" type="presParOf" srcId="{0FFB1732-5168-4F40-87F1-98DFA05006D6}" destId="{94850E04-BE46-41D8-9A20-6EA9CB9F9156}" srcOrd="3" destOrd="0" presId="urn:microsoft.com/office/officeart/2024/3/layout/verticalVisualTextBlock1"/>
    <dgm:cxn modelId="{9CAD7198-C766-4BAD-B8DB-85176CA42B69}" type="presParOf" srcId="{0FFB1732-5168-4F40-87F1-98DFA05006D6}" destId="{A9D7DAD9-E846-4935-BFF0-03A3089A47C3}" srcOrd="4" destOrd="0" presId="urn:microsoft.com/office/officeart/2024/3/layout/verticalVisualTextBlock1"/>
    <dgm:cxn modelId="{2F77F138-92BC-48E6-8361-C031744B388E}" type="presParOf" srcId="{A9D7DAD9-E846-4935-BFF0-03A3089A47C3}" destId="{052EF89D-7449-4360-93BC-8039F266FDEA}" srcOrd="0" destOrd="0" presId="urn:microsoft.com/office/officeart/2024/3/layout/verticalVisualTextBlock1"/>
    <dgm:cxn modelId="{CDC7F779-DCF1-4F3F-841F-00925D1C527A}" type="presParOf" srcId="{A9D7DAD9-E846-4935-BFF0-03A3089A47C3}" destId="{313318F6-8D71-458D-8C35-DA94147244A5}" srcOrd="1" destOrd="0" presId="urn:microsoft.com/office/officeart/2024/3/layout/verticalVisualTextBlock1"/>
    <dgm:cxn modelId="{C6634362-3F84-4EAF-8017-F83FB62B4F89}" type="presParOf" srcId="{A9D7DAD9-E846-4935-BFF0-03A3089A47C3}" destId="{A24F044F-972F-46F4-9870-9D220DC6E79F}"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247A04-6453-4655-8FD3-EE2FA428C55E}">
      <dsp:nvSpPr>
        <dsp:cNvPr id="0" name=""/>
        <dsp:cNvSpPr/>
      </dsp:nvSpPr>
      <dsp:spPr>
        <a:xfrm>
          <a:off x="0" y="0"/>
          <a:ext cx="1303331" cy="130333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0909" r="4093" b="3"/>
          <a:stretch>
            <a:fillRect l="-17000" r="-17000"/>
          </a:stretch>
        </a:blipFill>
        <a:ln>
          <a:noFill/>
        </a:ln>
        <a:effectLst/>
      </dsp:spPr>
      <dsp:style>
        <a:lnRef idx="0">
          <a:scrgbClr r="0" g="0" b="0"/>
        </a:lnRef>
        <a:fillRef idx="3">
          <a:scrgbClr r="0" g="0" b="0"/>
        </a:fillRef>
        <a:effectRef idx="2">
          <a:scrgbClr r="0" g="0" b="0"/>
        </a:effectRef>
        <a:fontRef idx="minor">
          <a:schemeClr val="lt1"/>
        </a:fontRef>
      </dsp:style>
    </dsp:sp>
    <dsp:sp modelId="{DCDE378D-8764-47CF-9501-B35C0433EB93}">
      <dsp:nvSpPr>
        <dsp:cNvPr id="0" name=""/>
        <dsp:cNvSpPr/>
      </dsp:nvSpPr>
      <dsp:spPr>
        <a:xfrm>
          <a:off x="1483331" y="0"/>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ro-RO" sz="1800" kern="1200"/>
            <a:t>Project Aim</a:t>
          </a:r>
        </a:p>
      </dsp:txBody>
      <dsp:txXfrm>
        <a:off x="1483331" y="0"/>
        <a:ext cx="5230220" cy="375552"/>
      </dsp:txXfrm>
    </dsp:sp>
    <dsp:sp modelId="{AF426DEA-DE42-4236-B0F4-9D2DC66AC527}">
      <dsp:nvSpPr>
        <dsp:cNvPr id="0" name=""/>
        <dsp:cNvSpPr/>
      </dsp:nvSpPr>
      <dsp:spPr>
        <a:xfrm>
          <a:off x="1483331" y="375552"/>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ro-RO" sz="1400" kern="1200"/>
            <a:t>Develop a lightweight IoT system to detect water pollution in real time using edge devices.</a:t>
          </a:r>
        </a:p>
      </dsp:txBody>
      <dsp:txXfrm>
        <a:off x="1483331" y="375552"/>
        <a:ext cx="5230220" cy="927779"/>
      </dsp:txXfrm>
    </dsp:sp>
    <dsp:sp modelId="{0555DEAC-C667-48FC-A911-E15DE8647D1A}">
      <dsp:nvSpPr>
        <dsp:cNvPr id="0" name=""/>
        <dsp:cNvSpPr/>
      </dsp:nvSpPr>
      <dsp:spPr>
        <a:xfrm>
          <a:off x="0" y="1407598"/>
          <a:ext cx="1303331" cy="130333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7127" r="16124"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8671BB8E-0E64-4504-B22C-DF4ADF35673C}">
      <dsp:nvSpPr>
        <dsp:cNvPr id="0" name=""/>
        <dsp:cNvSpPr/>
      </dsp:nvSpPr>
      <dsp:spPr>
        <a:xfrm>
          <a:off x="1483331" y="1407598"/>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ro-RO" sz="1800" kern="1200"/>
            <a:t>Efficient Operation</a:t>
          </a:r>
        </a:p>
      </dsp:txBody>
      <dsp:txXfrm>
        <a:off x="1483331" y="1407598"/>
        <a:ext cx="5230220" cy="375552"/>
      </dsp:txXfrm>
    </dsp:sp>
    <dsp:sp modelId="{798626B9-0F0B-482E-8FBD-2AF3E33E0E7E}">
      <dsp:nvSpPr>
        <dsp:cNvPr id="0" name=""/>
        <dsp:cNvSpPr/>
      </dsp:nvSpPr>
      <dsp:spPr>
        <a:xfrm>
          <a:off x="1483331" y="1783150"/>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ro-RO" sz="1400" kern="1200"/>
            <a:t>Use statistical methods to ensure efficient operation on resource-constrained, low-power edge hardware.</a:t>
          </a:r>
        </a:p>
      </dsp:txBody>
      <dsp:txXfrm>
        <a:off x="1483331" y="1783150"/>
        <a:ext cx="5230220" cy="927779"/>
      </dsp:txXfrm>
    </dsp:sp>
    <dsp:sp modelId="{6625C33F-F0F9-4342-A0D3-E0538DAC28A1}">
      <dsp:nvSpPr>
        <dsp:cNvPr id="0" name=""/>
        <dsp:cNvSpPr/>
      </dsp:nvSpPr>
      <dsp:spPr>
        <a:xfrm>
          <a:off x="0" y="2815196"/>
          <a:ext cx="1303331" cy="130333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0927" r="2324"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34A69C31-BCD6-4D8C-B729-92418110A8A5}">
      <dsp:nvSpPr>
        <dsp:cNvPr id="0" name=""/>
        <dsp:cNvSpPr/>
      </dsp:nvSpPr>
      <dsp:spPr>
        <a:xfrm>
          <a:off x="1483331" y="2815196"/>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defRPr b="1"/>
          </a:pPr>
          <a:r>
            <a:rPr lang="ro-RO" sz="1800" kern="1200"/>
            <a:t>Environmental Monitoring</a:t>
          </a:r>
        </a:p>
      </dsp:txBody>
      <dsp:txXfrm>
        <a:off x="1483331" y="2815196"/>
        <a:ext cx="5230220" cy="375552"/>
      </dsp:txXfrm>
    </dsp:sp>
    <dsp:sp modelId="{10B9A672-3909-49B0-8249-77D7C3922FE1}">
      <dsp:nvSpPr>
        <dsp:cNvPr id="0" name=""/>
        <dsp:cNvSpPr/>
      </dsp:nvSpPr>
      <dsp:spPr>
        <a:xfrm>
          <a:off x="1483331" y="3190749"/>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pPr>
          <a:r>
            <a:rPr lang="ro-RO" sz="1400" kern="1200"/>
            <a:t>Enable rapid detection of pollution to support timely environmental monitoring and response.</a:t>
          </a:r>
        </a:p>
      </dsp:txBody>
      <dsp:txXfrm>
        <a:off x="1483331" y="3190749"/>
        <a:ext cx="5230220" cy="9277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C5FC7F-B51A-425F-9C76-D24B43982935}">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 r="-9" b="-8"/>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C08113BE-0ED3-4919-8EA2-D5266697E801}">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ro-RO" sz="1800" b="0" kern="1200" dirty="0" err="1">
              <a:latin typeface="Aptos"/>
              <a:ea typeface="+mn-ea"/>
              <a:cs typeface="+mn-cs"/>
            </a:rPr>
            <a:t>Adaptation</a:t>
          </a:r>
          <a:r>
            <a:rPr lang="ro-RO" sz="1800" b="0" kern="1200" dirty="0">
              <a:latin typeface="Aptos"/>
              <a:ea typeface="+mn-ea"/>
              <a:cs typeface="+mn-cs"/>
            </a:rPr>
            <a:t> </a:t>
          </a:r>
          <a:r>
            <a:rPr lang="ro-RO" sz="1800" b="0" kern="1200" dirty="0" err="1">
              <a:latin typeface="Aptos"/>
              <a:ea typeface="+mn-ea"/>
              <a:cs typeface="+mn-cs"/>
            </a:rPr>
            <a:t>to</a:t>
          </a:r>
          <a:r>
            <a:rPr lang="ro-RO" sz="1800" b="0" kern="1200" dirty="0">
              <a:latin typeface="Aptos"/>
              <a:ea typeface="+mn-ea"/>
              <a:cs typeface="+mn-cs"/>
            </a:rPr>
            <a:t> </a:t>
          </a:r>
          <a:r>
            <a:rPr lang="ro-RO" sz="1800" b="0" kern="1200" dirty="0" err="1">
              <a:latin typeface="Aptos"/>
              <a:ea typeface="+mn-ea"/>
              <a:cs typeface="+mn-cs"/>
            </a:rPr>
            <a:t>sensor</a:t>
          </a:r>
          <a:r>
            <a:rPr lang="ro-RO" sz="1800" b="0" kern="1200" dirty="0">
              <a:latin typeface="Aptos"/>
              <a:ea typeface="+mn-ea"/>
              <a:cs typeface="+mn-cs"/>
            </a:rPr>
            <a:t> </a:t>
          </a:r>
          <a:r>
            <a:rPr lang="ro-RO" sz="1800" b="0" kern="1200" dirty="0" err="1">
              <a:latin typeface="Aptos"/>
              <a:ea typeface="+mn-ea"/>
              <a:cs typeface="+mn-cs"/>
            </a:rPr>
            <a:t>drift</a:t>
          </a:r>
          <a:r>
            <a:rPr lang="ro-RO" sz="1800" b="0" kern="1200" dirty="0">
              <a:latin typeface="Aptos"/>
              <a:ea typeface="+mn-ea"/>
              <a:cs typeface="+mn-cs"/>
            </a:rPr>
            <a:t> </a:t>
          </a:r>
          <a:endParaRPr lang="ro-RO" sz="1800" kern="1200" dirty="0">
            <a:latin typeface="Aptos"/>
            <a:ea typeface="+mn-ea"/>
            <a:cs typeface="+mn-cs"/>
          </a:endParaRPr>
        </a:p>
      </dsp:txBody>
      <dsp:txXfrm>
        <a:off x="2034553" y="0"/>
        <a:ext cx="4155226" cy="370034"/>
      </dsp:txXfrm>
    </dsp:sp>
    <dsp:sp modelId="{DA90ABCF-F9D2-480B-B935-F2AF55197212}">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rtl="0">
            <a:lnSpc>
              <a:spcPct val="100000"/>
            </a:lnSpc>
            <a:spcBef>
              <a:spcPct val="0"/>
            </a:spcBef>
            <a:spcAft>
              <a:spcPct val="35000"/>
            </a:spcAft>
            <a:buNone/>
          </a:pPr>
          <a:r>
            <a:rPr lang="ro-RO" sz="1400" kern="1200" dirty="0">
              <a:latin typeface="Aptos" panose="020B0004020202020204"/>
              <a:ea typeface="+mn-ea"/>
              <a:cs typeface="+mn-cs"/>
            </a:rPr>
            <a:t>The system quickly detects real anomalies, efficiently adapting to sensor drift without false alarms.</a:t>
          </a:r>
        </a:p>
      </dsp:txBody>
      <dsp:txXfrm>
        <a:off x="2034553" y="370034"/>
        <a:ext cx="4155226" cy="1484518"/>
      </dsp:txXfrm>
    </dsp:sp>
    <dsp:sp modelId="{0F2710FE-7D6F-4561-A636-02D5A803CE0D}">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5920" r="7827" b="-6"/>
          <a:stretch>
            <a:fillRect l="-39000" r="-39000"/>
          </a:stretch>
        </a:blipFill>
        <a:ln>
          <a:noFill/>
        </a:ln>
        <a:effectLst/>
      </dsp:spPr>
      <dsp:style>
        <a:lnRef idx="0">
          <a:scrgbClr r="0" g="0" b="0"/>
        </a:lnRef>
        <a:fillRef idx="3">
          <a:scrgbClr r="0" g="0" b="0"/>
        </a:fillRef>
        <a:effectRef idx="2">
          <a:scrgbClr r="0" g="0" b="0"/>
        </a:effectRef>
        <a:fontRef idx="minor">
          <a:schemeClr val="lt1"/>
        </a:fontRef>
      </dsp:style>
    </dsp:sp>
    <dsp:sp modelId="{8D60E281-E7F7-4F53-83F4-D7EACDE767A8}">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ro-RO" sz="1800" b="0" kern="1200" dirty="0">
              <a:latin typeface="Aptos" panose="020B0004020202020204"/>
              <a:ea typeface="+mn-ea"/>
              <a:cs typeface="+mn-cs"/>
            </a:rPr>
            <a:t>Current limitations</a:t>
          </a:r>
          <a:endParaRPr lang="ro-RO" sz="1800" kern="1200" dirty="0">
            <a:latin typeface="Aptos" panose="020B0004020202020204"/>
            <a:ea typeface="+mn-ea"/>
            <a:cs typeface="+mn-cs"/>
          </a:endParaRPr>
        </a:p>
      </dsp:txBody>
      <dsp:txXfrm>
        <a:off x="2034553" y="2002917"/>
        <a:ext cx="4155226" cy="370034"/>
      </dsp:txXfrm>
    </dsp:sp>
    <dsp:sp modelId="{73D82770-9A53-463C-9AA9-6A1BA937A06C}">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rtl="0">
            <a:lnSpc>
              <a:spcPct val="100000"/>
            </a:lnSpc>
            <a:spcBef>
              <a:spcPct val="0"/>
            </a:spcBef>
            <a:spcAft>
              <a:spcPct val="35000"/>
            </a:spcAft>
            <a:buNone/>
          </a:pPr>
          <a:r>
            <a:rPr lang="ro-RO" sz="1400" kern="1200" dirty="0">
              <a:latin typeface="Aptos" panose="020B0004020202020204"/>
              <a:ea typeface="+mn-ea"/>
              <a:cs typeface="+mn-cs"/>
            </a:rPr>
            <a:t>Implementation on real hardware and integration of IoT protocols such as MQTT are future plans.</a:t>
          </a:r>
        </a:p>
      </dsp:txBody>
      <dsp:txXfrm>
        <a:off x="2034553" y="2372952"/>
        <a:ext cx="4155226" cy="1484518"/>
      </dsp:txXfrm>
    </dsp:sp>
    <dsp:sp modelId="{052EF89D-7449-4360-93BC-8039F266FDEA}">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2487" r="11260" b="-6"/>
          <a:stretch>
            <a:fillRect l="-39000" r="-39000"/>
          </a:stretch>
        </a:blipFill>
        <a:ln>
          <a:noFill/>
        </a:ln>
        <a:effectLst/>
      </dsp:spPr>
      <dsp:style>
        <a:lnRef idx="0">
          <a:scrgbClr r="0" g="0" b="0"/>
        </a:lnRef>
        <a:fillRef idx="3">
          <a:scrgbClr r="0" g="0" b="0"/>
        </a:fillRef>
        <a:effectRef idx="2">
          <a:scrgbClr r="0" g="0" b="0"/>
        </a:effectRef>
        <a:fontRef idx="minor">
          <a:schemeClr val="lt1"/>
        </a:fontRef>
      </dsp:style>
    </dsp:sp>
    <dsp:sp modelId="{313318F6-8D71-458D-8C35-DA94147244A5}">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ro-RO" sz="1800" b="0" kern="1200" dirty="0">
              <a:latin typeface="Aptos" panose="020B0004020202020204"/>
              <a:ea typeface="+mn-ea"/>
              <a:cs typeface="+mn-cs"/>
            </a:rPr>
            <a:t>Planned future work </a:t>
          </a:r>
          <a:endParaRPr lang="ro-RO" sz="1800" kern="1200" dirty="0">
            <a:latin typeface="Aptos" panose="020B0004020202020204"/>
            <a:ea typeface="+mn-ea"/>
            <a:cs typeface="+mn-cs"/>
          </a:endParaRPr>
        </a:p>
      </dsp:txBody>
      <dsp:txXfrm>
        <a:off x="2034553" y="4005834"/>
        <a:ext cx="4155226" cy="370034"/>
      </dsp:txXfrm>
    </dsp:sp>
    <dsp:sp modelId="{A24F044F-972F-46F4-9870-9D220DC6E79F}">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ro-RO" sz="1400" kern="1200" dirty="0">
              <a:latin typeface="Aptos" panose="020B0004020202020204"/>
              <a:ea typeface="+mn-ea"/>
              <a:cs typeface="+mn-cs"/>
            </a:rPr>
            <a:t>Porting to ESP32 and integration of a dashboard for extended scalability will be carried out.</a:t>
          </a:r>
        </a:p>
      </dsp:txBody>
      <dsp:txXfrm>
        <a:off x="2034553" y="4375869"/>
        <a:ext cx="4155226" cy="148451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B36D7-C675-4555-88F3-D6AEA6E25A8D}" type="datetimeFigureOut">
              <a:t>12.01.2026</a:t>
            </a:fld>
            <a:endParaRPr lang="ro-RO"/>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11379B-041C-44BE-8992-754FE2F6D216}" type="slidenum">
              <a:t>‹#›</a:t>
            </a:fld>
            <a:endParaRPr lang="ro-RO"/>
          </a:p>
        </p:txBody>
      </p:sp>
    </p:spTree>
    <p:extLst>
      <p:ext uri="{BB962C8B-B14F-4D97-AF65-F5344CB8AC3E}">
        <p14:creationId xmlns:p14="http://schemas.microsoft.com/office/powerpoint/2010/main" val="2414723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r>
              <a:rPr lang="ro-RO"/>
              <a:t>Overview and Project Goal, Edge Intelligence and Adaptive Thresholds, System Design and Software Implementation, Results, Limitations, and Future Work</a:t>
            </a:r>
          </a:p>
        </p:txBody>
      </p:sp>
      <p:sp>
        <p:nvSpPr>
          <p:cNvPr id="4" name="Substituent număr diapozitiv 3"/>
          <p:cNvSpPr>
            <a:spLocks noGrp="1"/>
          </p:cNvSpPr>
          <p:nvPr>
            <p:ph type="sldNum" sz="quarter" idx="5"/>
          </p:nvPr>
        </p:nvSpPr>
        <p:spPr/>
        <p:txBody>
          <a:bodyPr/>
          <a:lstStyle/>
          <a:p>
            <a:fld id="{666A33C3-E104-41E0-9B7A-9995920E6AD9}" type="slidenum">
              <a:t>1</a:t>
            </a:fld>
            <a:endParaRPr lang="ro-RO"/>
          </a:p>
        </p:txBody>
      </p:sp>
    </p:spTree>
    <p:extLst>
      <p:ext uri="{BB962C8B-B14F-4D97-AF65-F5344CB8AC3E}">
        <p14:creationId xmlns:p14="http://schemas.microsoft.com/office/powerpoint/2010/main" val="2142765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r>
              <a:rPr lang="ro-RO"/>
              <a:t>This project aims to develop a lightweight IoT system for detecting water pollution in real time using resource-constrained edge devices. By leveraging statistical methods rather than deep learning, the system prioritizes efficient operation on low-power hardware while delivering rapid pollution detection for environmental monitoring.</a:t>
            </a:r>
          </a:p>
        </p:txBody>
      </p:sp>
      <p:sp>
        <p:nvSpPr>
          <p:cNvPr id="4" name="Substituent număr diapozitiv 3"/>
          <p:cNvSpPr>
            <a:spLocks noGrp="1"/>
          </p:cNvSpPr>
          <p:nvPr>
            <p:ph type="sldNum" sz="quarter" idx="5"/>
          </p:nvPr>
        </p:nvSpPr>
        <p:spPr/>
        <p:txBody>
          <a:bodyPr/>
          <a:lstStyle/>
          <a:p>
            <a:fld id="{666A33C3-E104-41E0-9B7A-9995920E6AD9}" type="slidenum">
              <a:t>2</a:t>
            </a:fld>
            <a:endParaRPr lang="ro-RO"/>
          </a:p>
        </p:txBody>
      </p:sp>
    </p:spTree>
    <p:extLst>
      <p:ext uri="{BB962C8B-B14F-4D97-AF65-F5344CB8AC3E}">
        <p14:creationId xmlns:p14="http://schemas.microsoft.com/office/powerpoint/2010/main" val="3395778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r>
              <a:rPr lang="ro-RO"/>
              <a:t>Instead of computationally expensive neural networks, this system utilizes adaptive thresholds based on a moving average of recent sensor readings. This approach enables the device to dynamically identify safe water quality ranges, handle sensor noise and drift, and flag anomalies instantly, making it suitable for real-world, low-resource deployments.</a:t>
            </a:r>
          </a:p>
        </p:txBody>
      </p:sp>
      <p:sp>
        <p:nvSpPr>
          <p:cNvPr id="4" name="Substituent număr diapozitiv 3"/>
          <p:cNvSpPr>
            <a:spLocks noGrp="1"/>
          </p:cNvSpPr>
          <p:nvPr>
            <p:ph type="sldNum" sz="quarter" idx="5"/>
          </p:nvPr>
        </p:nvSpPr>
        <p:spPr/>
        <p:txBody>
          <a:bodyPr/>
          <a:lstStyle/>
          <a:p>
            <a:fld id="{666A33C3-E104-41E0-9B7A-9995920E6AD9}" type="slidenum">
              <a:t>3</a:t>
            </a:fld>
            <a:endParaRPr lang="ro-RO"/>
          </a:p>
        </p:txBody>
      </p:sp>
    </p:spTree>
    <p:extLst>
      <p:ext uri="{BB962C8B-B14F-4D97-AF65-F5344CB8AC3E}">
        <p14:creationId xmlns:p14="http://schemas.microsoft.com/office/powerpoint/2010/main" val="4282525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r>
              <a:rPr lang="ro-RO"/>
              <a:t>The solution includes two main Python modules: sensor_simulator.py, which generates synthetic sensor data, and water_quality_monitor.py, which processes the data using a sliding window algorithm. Detected anomalies are logged to CSV files, ensuring traceable results and easy data analysis for further improvements.</a:t>
            </a:r>
          </a:p>
        </p:txBody>
      </p:sp>
      <p:sp>
        <p:nvSpPr>
          <p:cNvPr id="4" name="Substituent număr diapozitiv 3"/>
          <p:cNvSpPr>
            <a:spLocks noGrp="1"/>
          </p:cNvSpPr>
          <p:nvPr>
            <p:ph type="sldNum" sz="quarter" idx="5"/>
          </p:nvPr>
        </p:nvSpPr>
        <p:spPr/>
        <p:txBody>
          <a:bodyPr/>
          <a:lstStyle/>
          <a:p>
            <a:fld id="{666A33C3-E104-41E0-9B7A-9995920E6AD9}" type="slidenum">
              <a:t>4</a:t>
            </a:fld>
            <a:endParaRPr lang="ro-RO"/>
          </a:p>
        </p:txBody>
      </p:sp>
    </p:spTree>
    <p:extLst>
      <p:ext uri="{BB962C8B-B14F-4D97-AF65-F5344CB8AC3E}">
        <p14:creationId xmlns:p14="http://schemas.microsoft.com/office/powerpoint/2010/main" val="422110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r>
              <a:rPr lang="ro-RO"/>
              <a:t>Initial experiments show the system successfully adapts to sensor drift without false alarms, quickly detecting real anomalies. However, deployment on real hardware and integration with IoT protocols like MQTT remain future goals. Planned enhancements include ESP32 porting and dashboard integration for broader scalability.</a:t>
            </a:r>
          </a:p>
        </p:txBody>
      </p:sp>
      <p:sp>
        <p:nvSpPr>
          <p:cNvPr id="4" name="Substituent număr diapozitiv 3"/>
          <p:cNvSpPr>
            <a:spLocks noGrp="1"/>
          </p:cNvSpPr>
          <p:nvPr>
            <p:ph type="sldNum" sz="quarter" idx="5"/>
          </p:nvPr>
        </p:nvSpPr>
        <p:spPr/>
        <p:txBody>
          <a:bodyPr/>
          <a:lstStyle/>
          <a:p>
            <a:fld id="{666A33C3-E104-41E0-9B7A-9995920E6AD9}" type="slidenum">
              <a:t>5</a:t>
            </a:fld>
            <a:endParaRPr lang="ro-RO"/>
          </a:p>
        </p:txBody>
      </p:sp>
    </p:spTree>
    <p:extLst>
      <p:ext uri="{BB962C8B-B14F-4D97-AF65-F5344CB8AC3E}">
        <p14:creationId xmlns:p14="http://schemas.microsoft.com/office/powerpoint/2010/main" val="1951582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E4349-9E34-15F3-30DB-5D410AB66887}"/>
            </a:ext>
          </a:extLst>
        </p:cNvPr>
        <p:cNvGrpSpPr/>
        <p:nvPr/>
      </p:nvGrpSpPr>
      <p:grpSpPr>
        <a:xfrm>
          <a:off x="0" y="0"/>
          <a:ext cx="0" cy="0"/>
          <a:chOff x="0" y="0"/>
          <a:chExt cx="0" cy="0"/>
        </a:xfrm>
      </p:grpSpPr>
      <p:sp>
        <p:nvSpPr>
          <p:cNvPr id="2" name="Substituent imagine diapozitiv 1">
            <a:extLst>
              <a:ext uri="{FF2B5EF4-FFF2-40B4-BE49-F238E27FC236}">
                <a16:creationId xmlns:a16="http://schemas.microsoft.com/office/drawing/2014/main" id="{806F2F2C-397C-651A-B673-571372AA8654}"/>
              </a:ext>
            </a:extLst>
          </p:cNvPr>
          <p:cNvSpPr>
            <a:spLocks noGrp="1" noRot="1" noChangeAspect="1"/>
          </p:cNvSpPr>
          <p:nvPr>
            <p:ph type="sldImg"/>
          </p:nvPr>
        </p:nvSpPr>
        <p:spPr/>
      </p:sp>
      <p:sp>
        <p:nvSpPr>
          <p:cNvPr id="3" name="Substituent note 2">
            <a:extLst>
              <a:ext uri="{FF2B5EF4-FFF2-40B4-BE49-F238E27FC236}">
                <a16:creationId xmlns:a16="http://schemas.microsoft.com/office/drawing/2014/main" id="{1923CD06-A13B-DA3A-6921-4990E9453DC6}"/>
              </a:ext>
            </a:extLst>
          </p:cNvPr>
          <p:cNvSpPr>
            <a:spLocks noGrp="1"/>
          </p:cNvSpPr>
          <p:nvPr>
            <p:ph type="body" idx="1"/>
          </p:nvPr>
        </p:nvSpPr>
        <p:spPr/>
        <p:txBody>
          <a:bodyPr/>
          <a:lstStyle/>
          <a:p>
            <a:r>
              <a:rPr lang="ro-RO"/>
              <a:t>Initial experiments show the system successfully adapts to sensor drift without false alarms, quickly detecting real anomalies. However, deployment on real hardware and integration with IoT protocols like MQTT remain future goals. Planned enhancements include ESP32 porting and dashboard integration for broader scalability.</a:t>
            </a:r>
          </a:p>
        </p:txBody>
      </p:sp>
      <p:sp>
        <p:nvSpPr>
          <p:cNvPr id="4" name="Substituent număr diapozitiv 3">
            <a:extLst>
              <a:ext uri="{FF2B5EF4-FFF2-40B4-BE49-F238E27FC236}">
                <a16:creationId xmlns:a16="http://schemas.microsoft.com/office/drawing/2014/main" id="{C5206D52-B696-0CD8-BA32-C92B1BFD24A6}"/>
              </a:ext>
            </a:extLst>
          </p:cNvPr>
          <p:cNvSpPr>
            <a:spLocks noGrp="1"/>
          </p:cNvSpPr>
          <p:nvPr>
            <p:ph type="sldNum" sz="quarter" idx="5"/>
          </p:nvPr>
        </p:nvSpPr>
        <p:spPr/>
        <p:txBody>
          <a:bodyPr/>
          <a:lstStyle/>
          <a:p>
            <a:fld id="{666A33C3-E104-41E0-9B7A-9995920E6AD9}" type="slidenum">
              <a:t>6</a:t>
            </a:fld>
            <a:endParaRPr lang="ro-RO"/>
          </a:p>
        </p:txBody>
      </p:sp>
    </p:spTree>
    <p:extLst>
      <p:ext uri="{BB962C8B-B14F-4D97-AF65-F5344CB8AC3E}">
        <p14:creationId xmlns:p14="http://schemas.microsoft.com/office/powerpoint/2010/main" val="4240319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zitiv titlu">
    <p:spTree>
      <p:nvGrpSpPr>
        <p:cNvPr id="1" name=""/>
        <p:cNvGrpSpPr/>
        <p:nvPr/>
      </p:nvGrpSpPr>
      <p:grpSpPr>
        <a:xfrm>
          <a:off x="0" y="0"/>
          <a:ext cx="0" cy="0"/>
          <a:chOff x="0" y="0"/>
          <a:chExt cx="0" cy="0"/>
        </a:xfrm>
      </p:grpSpPr>
      <p:sp>
        <p:nvSpPr>
          <p:cNvPr id="2" name="Titlu 1"/>
          <p:cNvSpPr>
            <a:spLocks noGrp="1"/>
          </p:cNvSpPr>
          <p:nvPr>
            <p:ph type="ctrTitle"/>
          </p:nvPr>
        </p:nvSpPr>
        <p:spPr>
          <a:xfrm>
            <a:off x="1524000" y="1122363"/>
            <a:ext cx="9144000" cy="2387600"/>
          </a:xfrm>
        </p:spPr>
        <p:txBody>
          <a:bodyPr anchor="b"/>
          <a:lstStyle>
            <a:lvl1pPr algn="ctr">
              <a:defRPr sz="6000"/>
            </a:lvl1pPr>
          </a:lstStyle>
          <a:p>
            <a:r>
              <a:rPr lang="ro-RO"/>
              <a:t>Clic pentru editare stil titlu</a:t>
            </a:r>
          </a:p>
        </p:txBody>
      </p:sp>
      <p:sp>
        <p:nvSpPr>
          <p:cNvPr id="3" name="Subtitlu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o-RO"/>
              <a:t>Clic pentru a edita stilul de subtitlu</a:t>
            </a:r>
          </a:p>
        </p:txBody>
      </p:sp>
      <p:sp>
        <p:nvSpPr>
          <p:cNvPr id="4" name="Substituent dată 3"/>
          <p:cNvSpPr>
            <a:spLocks noGrp="1"/>
          </p:cNvSpPr>
          <p:nvPr>
            <p:ph type="dt" sz="half" idx="10"/>
          </p:nvPr>
        </p:nvSpPr>
        <p:spPr/>
        <p:txBody>
          <a:bodyPr/>
          <a:lstStyle/>
          <a:p>
            <a:fld id="{7363E8AD-4F80-492A-97A9-79DD5BB5D54F}" type="datetimeFigureOut">
              <a:rPr lang="ro-RO" smtClean="0"/>
              <a:t>12.01.2026</a:t>
            </a:fld>
            <a:endParaRPr lang="ro-RO"/>
          </a:p>
        </p:txBody>
      </p:sp>
      <p:sp>
        <p:nvSpPr>
          <p:cNvPr id="5" name="Substituent subsol 4"/>
          <p:cNvSpPr>
            <a:spLocks noGrp="1"/>
          </p:cNvSpPr>
          <p:nvPr>
            <p:ph type="ftr" sz="quarter" idx="11"/>
          </p:nvPr>
        </p:nvSpPr>
        <p:spPr/>
        <p:txBody>
          <a:bodyPr/>
          <a:lstStyle/>
          <a:p>
            <a:endParaRPr lang="ro-RO"/>
          </a:p>
        </p:txBody>
      </p:sp>
      <p:sp>
        <p:nvSpPr>
          <p:cNvPr id="6" name="Substituent număr diapozitiv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106736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a:t>Clic pentru editare stil titlu</a:t>
            </a:r>
          </a:p>
        </p:txBody>
      </p:sp>
      <p:sp>
        <p:nvSpPr>
          <p:cNvPr id="3" name="Substituent conținut 2"/>
          <p:cNvSpPr>
            <a:spLocks noGrp="1"/>
          </p:cNvSpPr>
          <p:nvPr>
            <p:ph idx="1"/>
          </p:nvPr>
        </p:nvSpPr>
        <p:spPr/>
        <p:txBody>
          <a:body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p:cNvSpPr>
            <a:spLocks noGrp="1"/>
          </p:cNvSpPr>
          <p:nvPr>
            <p:ph type="dt" sz="half" idx="10"/>
          </p:nvPr>
        </p:nvSpPr>
        <p:spPr/>
        <p:txBody>
          <a:bodyPr/>
          <a:lstStyle/>
          <a:p>
            <a:fld id="{7363E8AD-4F80-492A-97A9-79DD5BB5D54F}" type="datetimeFigureOut">
              <a:rPr lang="ro-RO" smtClean="0"/>
              <a:t>12.01.2026</a:t>
            </a:fld>
            <a:endParaRPr lang="ro-RO"/>
          </a:p>
        </p:txBody>
      </p:sp>
      <p:sp>
        <p:nvSpPr>
          <p:cNvPr id="5" name="Substituent subsol 4"/>
          <p:cNvSpPr>
            <a:spLocks noGrp="1"/>
          </p:cNvSpPr>
          <p:nvPr>
            <p:ph type="ftr" sz="quarter" idx="11"/>
          </p:nvPr>
        </p:nvSpPr>
        <p:spPr/>
        <p:txBody>
          <a:bodyPr/>
          <a:lstStyle/>
          <a:p>
            <a:endParaRPr lang="ro-RO"/>
          </a:p>
        </p:txBody>
      </p:sp>
      <p:sp>
        <p:nvSpPr>
          <p:cNvPr id="6" name="Substituent număr diapozitiv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2792769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u 1"/>
          <p:cNvSpPr>
            <a:spLocks noGrp="1"/>
          </p:cNvSpPr>
          <p:nvPr>
            <p:ph type="title"/>
          </p:nvPr>
        </p:nvSpPr>
        <p:spPr>
          <a:xfrm>
            <a:off x="831850" y="1709738"/>
            <a:ext cx="10515600" cy="2852737"/>
          </a:xfrm>
        </p:spPr>
        <p:txBody>
          <a:bodyPr anchor="b"/>
          <a:lstStyle>
            <a:lvl1pPr>
              <a:defRPr sz="6000"/>
            </a:lvl1pPr>
          </a:lstStyle>
          <a:p>
            <a:r>
              <a:rPr lang="ro-RO"/>
              <a:t>Clic pentru editare stil titlu</a:t>
            </a:r>
          </a:p>
        </p:txBody>
      </p:sp>
      <p:sp>
        <p:nvSpPr>
          <p:cNvPr id="3" name="Substituent text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o-RO"/>
              <a:t>Clic pentru editare stiluri text Coordonator</a:t>
            </a:r>
          </a:p>
        </p:txBody>
      </p:sp>
      <p:sp>
        <p:nvSpPr>
          <p:cNvPr id="4" name="Substituent dată 3"/>
          <p:cNvSpPr>
            <a:spLocks noGrp="1"/>
          </p:cNvSpPr>
          <p:nvPr>
            <p:ph type="dt" sz="half" idx="10"/>
          </p:nvPr>
        </p:nvSpPr>
        <p:spPr/>
        <p:txBody>
          <a:bodyPr/>
          <a:lstStyle/>
          <a:p>
            <a:fld id="{7363E8AD-4F80-492A-97A9-79DD5BB5D54F}" type="datetimeFigureOut">
              <a:rPr lang="ro-RO" smtClean="0"/>
              <a:t>12.01.2026</a:t>
            </a:fld>
            <a:endParaRPr lang="ro-RO"/>
          </a:p>
        </p:txBody>
      </p:sp>
      <p:sp>
        <p:nvSpPr>
          <p:cNvPr id="5" name="Substituent subsol 4"/>
          <p:cNvSpPr>
            <a:spLocks noGrp="1"/>
          </p:cNvSpPr>
          <p:nvPr>
            <p:ph type="ftr" sz="quarter" idx="11"/>
          </p:nvPr>
        </p:nvSpPr>
        <p:spPr/>
        <p:txBody>
          <a:bodyPr/>
          <a:lstStyle/>
          <a:p>
            <a:endParaRPr lang="ro-RO"/>
          </a:p>
        </p:txBody>
      </p:sp>
      <p:sp>
        <p:nvSpPr>
          <p:cNvPr id="6" name="Substituent număr diapozitiv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2703149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a:t>Clic pentru editare stil titlu</a:t>
            </a:r>
          </a:p>
        </p:txBody>
      </p:sp>
      <p:sp>
        <p:nvSpPr>
          <p:cNvPr id="3" name="Substituent conținut 2"/>
          <p:cNvSpPr>
            <a:spLocks noGrp="1"/>
          </p:cNvSpPr>
          <p:nvPr>
            <p:ph sz="half" idx="1"/>
          </p:nvPr>
        </p:nvSpPr>
        <p:spPr>
          <a:xfrm>
            <a:off x="838200" y="1825625"/>
            <a:ext cx="5181600" cy="4351338"/>
          </a:xfrm>
        </p:spPr>
        <p:txBody>
          <a:body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conținut 3"/>
          <p:cNvSpPr>
            <a:spLocks noGrp="1"/>
          </p:cNvSpPr>
          <p:nvPr>
            <p:ph sz="half" idx="2"/>
          </p:nvPr>
        </p:nvSpPr>
        <p:spPr>
          <a:xfrm>
            <a:off x="6172200" y="1825625"/>
            <a:ext cx="5181600" cy="4351338"/>
          </a:xfrm>
        </p:spPr>
        <p:txBody>
          <a:body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dată 4"/>
          <p:cNvSpPr>
            <a:spLocks noGrp="1"/>
          </p:cNvSpPr>
          <p:nvPr>
            <p:ph type="dt" sz="half" idx="10"/>
          </p:nvPr>
        </p:nvSpPr>
        <p:spPr/>
        <p:txBody>
          <a:bodyPr/>
          <a:lstStyle/>
          <a:p>
            <a:fld id="{7363E8AD-4F80-492A-97A9-79DD5BB5D54F}" type="datetimeFigureOut">
              <a:rPr lang="ro-RO" smtClean="0"/>
              <a:t>12.01.2026</a:t>
            </a:fld>
            <a:endParaRPr lang="ro-RO"/>
          </a:p>
        </p:txBody>
      </p:sp>
      <p:sp>
        <p:nvSpPr>
          <p:cNvPr id="6" name="Substituent subsol 5"/>
          <p:cNvSpPr>
            <a:spLocks noGrp="1"/>
          </p:cNvSpPr>
          <p:nvPr>
            <p:ph type="ftr" sz="quarter" idx="11"/>
          </p:nvPr>
        </p:nvSpPr>
        <p:spPr/>
        <p:txBody>
          <a:bodyPr/>
          <a:lstStyle/>
          <a:p>
            <a:endParaRPr lang="ro-RO"/>
          </a:p>
        </p:txBody>
      </p:sp>
      <p:sp>
        <p:nvSpPr>
          <p:cNvPr id="7" name="Substituent număr diapozitiv 6"/>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4139618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u 1"/>
          <p:cNvSpPr>
            <a:spLocks noGrp="1"/>
          </p:cNvSpPr>
          <p:nvPr>
            <p:ph type="title"/>
          </p:nvPr>
        </p:nvSpPr>
        <p:spPr>
          <a:xfrm>
            <a:off x="839788" y="365125"/>
            <a:ext cx="10515600" cy="1325563"/>
          </a:xfrm>
        </p:spPr>
        <p:txBody>
          <a:bodyPr/>
          <a:lstStyle/>
          <a:p>
            <a:r>
              <a:rPr lang="ro-RO"/>
              <a:t>Clic pentru editare stil titlu</a:t>
            </a:r>
          </a:p>
        </p:txBody>
      </p:sp>
      <p:sp>
        <p:nvSpPr>
          <p:cNvPr id="3" name="Substituent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Clic pentru editare stiluri text Coordonator</a:t>
            </a:r>
          </a:p>
        </p:txBody>
      </p:sp>
      <p:sp>
        <p:nvSpPr>
          <p:cNvPr id="4" name="Substituent conținut 3"/>
          <p:cNvSpPr>
            <a:spLocks noGrp="1"/>
          </p:cNvSpPr>
          <p:nvPr>
            <p:ph sz="half" idx="2"/>
          </p:nvPr>
        </p:nvSpPr>
        <p:spPr>
          <a:xfrm>
            <a:off x="839788" y="2505075"/>
            <a:ext cx="5157787" cy="3684588"/>
          </a:xfrm>
        </p:spPr>
        <p:txBody>
          <a:body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Clic pentru editare stiluri text Coordonator</a:t>
            </a:r>
          </a:p>
        </p:txBody>
      </p:sp>
      <p:sp>
        <p:nvSpPr>
          <p:cNvPr id="6" name="Substituent conținut 5"/>
          <p:cNvSpPr>
            <a:spLocks noGrp="1"/>
          </p:cNvSpPr>
          <p:nvPr>
            <p:ph sz="quarter" idx="4"/>
          </p:nvPr>
        </p:nvSpPr>
        <p:spPr>
          <a:xfrm>
            <a:off x="6172200" y="2505075"/>
            <a:ext cx="5183188" cy="3684588"/>
          </a:xfrm>
        </p:spPr>
        <p:txBody>
          <a:body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7" name="Substituent dată 6"/>
          <p:cNvSpPr>
            <a:spLocks noGrp="1"/>
          </p:cNvSpPr>
          <p:nvPr>
            <p:ph type="dt" sz="half" idx="10"/>
          </p:nvPr>
        </p:nvSpPr>
        <p:spPr/>
        <p:txBody>
          <a:bodyPr/>
          <a:lstStyle/>
          <a:p>
            <a:fld id="{7363E8AD-4F80-492A-97A9-79DD5BB5D54F}" type="datetimeFigureOut">
              <a:rPr lang="ro-RO" smtClean="0"/>
              <a:t>12.01.2026</a:t>
            </a:fld>
            <a:endParaRPr lang="ro-RO"/>
          </a:p>
        </p:txBody>
      </p:sp>
      <p:sp>
        <p:nvSpPr>
          <p:cNvPr id="8" name="Substituent subsol 7"/>
          <p:cNvSpPr>
            <a:spLocks noGrp="1"/>
          </p:cNvSpPr>
          <p:nvPr>
            <p:ph type="ftr" sz="quarter" idx="11"/>
          </p:nvPr>
        </p:nvSpPr>
        <p:spPr/>
        <p:txBody>
          <a:bodyPr/>
          <a:lstStyle/>
          <a:p>
            <a:endParaRPr lang="ro-RO"/>
          </a:p>
        </p:txBody>
      </p:sp>
      <p:sp>
        <p:nvSpPr>
          <p:cNvPr id="9" name="Substituent număr diapozitiv 8"/>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3652911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a:t>Clic pentru editare stil titlu</a:t>
            </a:r>
          </a:p>
        </p:txBody>
      </p:sp>
      <p:sp>
        <p:nvSpPr>
          <p:cNvPr id="3" name="Substituent dată 2"/>
          <p:cNvSpPr>
            <a:spLocks noGrp="1"/>
          </p:cNvSpPr>
          <p:nvPr>
            <p:ph type="dt" sz="half" idx="10"/>
          </p:nvPr>
        </p:nvSpPr>
        <p:spPr/>
        <p:txBody>
          <a:bodyPr/>
          <a:lstStyle/>
          <a:p>
            <a:fld id="{7363E8AD-4F80-492A-97A9-79DD5BB5D54F}" type="datetimeFigureOut">
              <a:rPr lang="ro-RO" smtClean="0"/>
              <a:t>12.01.2026</a:t>
            </a:fld>
            <a:endParaRPr lang="ro-RO"/>
          </a:p>
        </p:txBody>
      </p:sp>
      <p:sp>
        <p:nvSpPr>
          <p:cNvPr id="4" name="Substituent subsol 3"/>
          <p:cNvSpPr>
            <a:spLocks noGrp="1"/>
          </p:cNvSpPr>
          <p:nvPr>
            <p:ph type="ftr" sz="quarter" idx="11"/>
          </p:nvPr>
        </p:nvSpPr>
        <p:spPr/>
        <p:txBody>
          <a:bodyPr/>
          <a:lstStyle/>
          <a:p>
            <a:endParaRPr lang="ro-RO"/>
          </a:p>
        </p:txBody>
      </p:sp>
      <p:sp>
        <p:nvSpPr>
          <p:cNvPr id="5" name="Substituent număr diapozitiv 4"/>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3836998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Substituent dată 1"/>
          <p:cNvSpPr>
            <a:spLocks noGrp="1"/>
          </p:cNvSpPr>
          <p:nvPr>
            <p:ph type="dt" sz="half" idx="10"/>
          </p:nvPr>
        </p:nvSpPr>
        <p:spPr/>
        <p:txBody>
          <a:bodyPr/>
          <a:lstStyle/>
          <a:p>
            <a:fld id="{7363E8AD-4F80-492A-97A9-79DD5BB5D54F}" type="datetimeFigureOut">
              <a:rPr lang="ro-RO" smtClean="0"/>
              <a:t>12.01.2026</a:t>
            </a:fld>
            <a:endParaRPr lang="ro-RO"/>
          </a:p>
        </p:txBody>
      </p:sp>
      <p:sp>
        <p:nvSpPr>
          <p:cNvPr id="3" name="Substituent subsol 2"/>
          <p:cNvSpPr>
            <a:spLocks noGrp="1"/>
          </p:cNvSpPr>
          <p:nvPr>
            <p:ph type="ftr" sz="quarter" idx="11"/>
          </p:nvPr>
        </p:nvSpPr>
        <p:spPr/>
        <p:txBody>
          <a:bodyPr/>
          <a:lstStyle/>
          <a:p>
            <a:endParaRPr lang="ro-RO"/>
          </a:p>
        </p:txBody>
      </p:sp>
      <p:sp>
        <p:nvSpPr>
          <p:cNvPr id="4" name="Substituent număr diapozitiv 3"/>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1895968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39788" y="457200"/>
            <a:ext cx="3932237" cy="1600200"/>
          </a:xfrm>
        </p:spPr>
        <p:txBody>
          <a:bodyPr anchor="b"/>
          <a:lstStyle>
            <a:lvl1pPr>
              <a:defRPr sz="3200"/>
            </a:lvl1pPr>
          </a:lstStyle>
          <a:p>
            <a:r>
              <a:rPr lang="ro-RO"/>
              <a:t>Clic pentru editare stil titlu</a:t>
            </a:r>
          </a:p>
        </p:txBody>
      </p:sp>
      <p:sp>
        <p:nvSpPr>
          <p:cNvPr id="3" name="Substituent conținut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Clic pentru editare stiluri text Coordonator</a:t>
            </a:r>
          </a:p>
        </p:txBody>
      </p:sp>
      <p:sp>
        <p:nvSpPr>
          <p:cNvPr id="5" name="Substituent dată 4"/>
          <p:cNvSpPr>
            <a:spLocks noGrp="1"/>
          </p:cNvSpPr>
          <p:nvPr>
            <p:ph type="dt" sz="half" idx="10"/>
          </p:nvPr>
        </p:nvSpPr>
        <p:spPr/>
        <p:txBody>
          <a:bodyPr/>
          <a:lstStyle/>
          <a:p>
            <a:fld id="{7363E8AD-4F80-492A-97A9-79DD5BB5D54F}" type="datetimeFigureOut">
              <a:rPr lang="ro-RO" smtClean="0"/>
              <a:t>12.01.2026</a:t>
            </a:fld>
            <a:endParaRPr lang="ro-RO"/>
          </a:p>
        </p:txBody>
      </p:sp>
      <p:sp>
        <p:nvSpPr>
          <p:cNvPr id="6" name="Substituent subsol 5"/>
          <p:cNvSpPr>
            <a:spLocks noGrp="1"/>
          </p:cNvSpPr>
          <p:nvPr>
            <p:ph type="ftr" sz="quarter" idx="11"/>
          </p:nvPr>
        </p:nvSpPr>
        <p:spPr/>
        <p:txBody>
          <a:bodyPr/>
          <a:lstStyle/>
          <a:p>
            <a:endParaRPr lang="ro-RO"/>
          </a:p>
        </p:txBody>
      </p:sp>
      <p:sp>
        <p:nvSpPr>
          <p:cNvPr id="7" name="Substituent număr diapozitiv 6"/>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224380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39788" y="457200"/>
            <a:ext cx="3932237" cy="1600200"/>
          </a:xfrm>
        </p:spPr>
        <p:txBody>
          <a:bodyPr anchor="b"/>
          <a:lstStyle>
            <a:lvl1pPr>
              <a:defRPr sz="3200"/>
            </a:lvl1pPr>
          </a:lstStyle>
          <a:p>
            <a:r>
              <a:rPr lang="ro-RO"/>
              <a:t>Clic pentru editare stil titlu</a:t>
            </a:r>
          </a:p>
        </p:txBody>
      </p:sp>
      <p:sp>
        <p:nvSpPr>
          <p:cNvPr id="3" name="Substituent i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Substituent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Clic pentru editare stiluri text Coordonator</a:t>
            </a:r>
          </a:p>
        </p:txBody>
      </p:sp>
      <p:sp>
        <p:nvSpPr>
          <p:cNvPr id="5" name="Substituent dată 4"/>
          <p:cNvSpPr>
            <a:spLocks noGrp="1"/>
          </p:cNvSpPr>
          <p:nvPr>
            <p:ph type="dt" sz="half" idx="10"/>
          </p:nvPr>
        </p:nvSpPr>
        <p:spPr/>
        <p:txBody>
          <a:bodyPr/>
          <a:lstStyle/>
          <a:p>
            <a:fld id="{7363E8AD-4F80-492A-97A9-79DD5BB5D54F}" type="datetimeFigureOut">
              <a:rPr lang="ro-RO" smtClean="0"/>
              <a:t>12.01.2026</a:t>
            </a:fld>
            <a:endParaRPr lang="ro-RO"/>
          </a:p>
        </p:txBody>
      </p:sp>
      <p:sp>
        <p:nvSpPr>
          <p:cNvPr id="6" name="Substituent subsol 5"/>
          <p:cNvSpPr>
            <a:spLocks noGrp="1"/>
          </p:cNvSpPr>
          <p:nvPr>
            <p:ph type="ftr" sz="quarter" idx="11"/>
          </p:nvPr>
        </p:nvSpPr>
        <p:spPr/>
        <p:txBody>
          <a:bodyPr/>
          <a:lstStyle/>
          <a:p>
            <a:endParaRPr lang="ro-RO"/>
          </a:p>
        </p:txBody>
      </p:sp>
      <p:sp>
        <p:nvSpPr>
          <p:cNvPr id="7" name="Substituent număr diapozitiv 6"/>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1525016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a:lstStyle/>
          <a:p>
            <a:r>
              <a:rPr lang="ro-RO"/>
              <a:t>Clic pentru editare stil titlu</a:t>
            </a:r>
          </a:p>
        </p:txBody>
      </p:sp>
      <p:sp>
        <p:nvSpPr>
          <p:cNvPr id="3" name="Substituent text vertical 2"/>
          <p:cNvSpPr>
            <a:spLocks noGrp="1"/>
          </p:cNvSpPr>
          <p:nvPr>
            <p:ph type="body" orient="vert" idx="1"/>
          </p:nvPr>
        </p:nvSpPr>
        <p:spPr/>
        <p:txBody>
          <a:bodyPr vert="eaVert"/>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p:cNvSpPr>
            <a:spLocks noGrp="1"/>
          </p:cNvSpPr>
          <p:nvPr>
            <p:ph type="dt" sz="half" idx="10"/>
          </p:nvPr>
        </p:nvSpPr>
        <p:spPr/>
        <p:txBody>
          <a:bodyPr/>
          <a:lstStyle/>
          <a:p>
            <a:fld id="{7363E8AD-4F80-492A-97A9-79DD5BB5D54F}" type="datetimeFigureOut">
              <a:rPr lang="ro-RO" smtClean="0"/>
              <a:t>12.01.2026</a:t>
            </a:fld>
            <a:endParaRPr lang="ro-RO"/>
          </a:p>
        </p:txBody>
      </p:sp>
      <p:sp>
        <p:nvSpPr>
          <p:cNvPr id="5" name="Substituent subsol 4"/>
          <p:cNvSpPr>
            <a:spLocks noGrp="1"/>
          </p:cNvSpPr>
          <p:nvPr>
            <p:ph type="ftr" sz="quarter" idx="11"/>
          </p:nvPr>
        </p:nvSpPr>
        <p:spPr/>
        <p:txBody>
          <a:bodyPr/>
          <a:lstStyle/>
          <a:p>
            <a:endParaRPr lang="ro-RO"/>
          </a:p>
        </p:txBody>
      </p:sp>
      <p:sp>
        <p:nvSpPr>
          <p:cNvPr id="6" name="Substituent număr diapozitiv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881899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365125"/>
            <a:ext cx="2628900" cy="5811838"/>
          </a:xfrm>
        </p:spPr>
        <p:txBody>
          <a:bodyPr vert="eaVert"/>
          <a:lstStyle/>
          <a:p>
            <a:r>
              <a:rPr lang="ro-RO"/>
              <a:t>Clic pentru editare stil titlu</a:t>
            </a:r>
          </a:p>
        </p:txBody>
      </p:sp>
      <p:sp>
        <p:nvSpPr>
          <p:cNvPr id="3" name="Substituent text vertical 2"/>
          <p:cNvSpPr>
            <a:spLocks noGrp="1"/>
          </p:cNvSpPr>
          <p:nvPr>
            <p:ph type="body" orient="vert" idx="1"/>
          </p:nvPr>
        </p:nvSpPr>
        <p:spPr>
          <a:xfrm>
            <a:off x="838200" y="365125"/>
            <a:ext cx="7734300" cy="5811838"/>
          </a:xfrm>
        </p:spPr>
        <p:txBody>
          <a:bodyPr vert="eaVert"/>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p:cNvSpPr>
            <a:spLocks noGrp="1"/>
          </p:cNvSpPr>
          <p:nvPr>
            <p:ph type="dt" sz="half" idx="10"/>
          </p:nvPr>
        </p:nvSpPr>
        <p:spPr/>
        <p:txBody>
          <a:bodyPr/>
          <a:lstStyle/>
          <a:p>
            <a:fld id="{7363E8AD-4F80-492A-97A9-79DD5BB5D54F}" type="datetimeFigureOut">
              <a:rPr lang="ro-RO" smtClean="0"/>
              <a:t>12.01.2026</a:t>
            </a:fld>
            <a:endParaRPr lang="ro-RO"/>
          </a:p>
        </p:txBody>
      </p:sp>
      <p:sp>
        <p:nvSpPr>
          <p:cNvPr id="5" name="Substituent subsol 4"/>
          <p:cNvSpPr>
            <a:spLocks noGrp="1"/>
          </p:cNvSpPr>
          <p:nvPr>
            <p:ph type="ftr" sz="quarter" idx="11"/>
          </p:nvPr>
        </p:nvSpPr>
        <p:spPr/>
        <p:txBody>
          <a:bodyPr/>
          <a:lstStyle/>
          <a:p>
            <a:endParaRPr lang="ro-RO"/>
          </a:p>
        </p:txBody>
      </p:sp>
      <p:sp>
        <p:nvSpPr>
          <p:cNvPr id="6" name="Substituent număr diapozitiv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3668357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o-RO"/>
              <a:t>Clic pentru editare stil titlu</a:t>
            </a:r>
          </a:p>
        </p:txBody>
      </p:sp>
      <p:sp>
        <p:nvSpPr>
          <p:cNvPr id="3" name="Substituent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o-RO"/>
              <a:t>Clic pentru editare stiluri text Coordonator</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63E8AD-4F80-492A-97A9-79DD5BB5D54F}" type="datetimeFigureOut">
              <a:rPr lang="ro-RO" smtClean="0"/>
              <a:t>12.01.2026</a:t>
            </a:fld>
            <a:endParaRPr lang="ro-RO"/>
          </a:p>
        </p:txBody>
      </p:sp>
      <p:sp>
        <p:nvSpPr>
          <p:cNvPr id="5" name="Substituent subsol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o-RO"/>
          </a:p>
        </p:txBody>
      </p:sp>
      <p:sp>
        <p:nvSpPr>
          <p:cNvPr id="6" name="Substituent număr diapozitiv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6C7AF6-F5DD-4AA3-9281-1BCA95A92161}" type="slidenum">
              <a:rPr lang="ro-RO" smtClean="0"/>
              <a:t>‹#›</a:t>
            </a:fld>
            <a:endParaRPr lang="ro-RO"/>
          </a:p>
        </p:txBody>
      </p:sp>
    </p:spTree>
    <p:extLst>
      <p:ext uri="{BB962C8B-B14F-4D97-AF65-F5344CB8AC3E}">
        <p14:creationId xmlns:p14="http://schemas.microsoft.com/office/powerpoint/2010/main" val="2934950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dirty="0"/>
          </a:p>
        </p:txBody>
      </p:sp>
      <p:sp>
        <p:nvSpPr>
          <p:cNvPr id="2" name="Titlu 1">
            <a:extLst>
              <a:ext uri="{FF2B5EF4-FFF2-40B4-BE49-F238E27FC236}">
                <a16:creationId xmlns:a16="http://schemas.microsoft.com/office/drawing/2014/main" id="{F9F972AC-360C-2F8B-BBF0-E59C1C66FB83}"/>
              </a:ext>
            </a:extLst>
          </p:cNvPr>
          <p:cNvSpPr>
            <a:spLocks noGrp="1"/>
          </p:cNvSpPr>
          <p:nvPr>
            <p:ph type="ctrTitle"/>
          </p:nvPr>
        </p:nvSpPr>
        <p:spPr>
          <a:xfrm>
            <a:off x="890338" y="640080"/>
            <a:ext cx="3734014" cy="3566160"/>
          </a:xfrm>
        </p:spPr>
        <p:txBody>
          <a:bodyPr vert="horz" lIns="91440" tIns="45720" rIns="91440" bIns="45720" rtlCol="0" anchor="b">
            <a:noAutofit/>
          </a:bodyPr>
          <a:lstStyle/>
          <a:p>
            <a:pPr algn="l"/>
            <a:r>
              <a:rPr lang="ro-RO" sz="3600" dirty="0">
                <a:latin typeface="Broadway"/>
              </a:rPr>
              <a:t>Real-Time </a:t>
            </a:r>
            <a:r>
              <a:rPr lang="ro-RO" sz="3600" err="1">
                <a:latin typeface="Broadway"/>
              </a:rPr>
              <a:t>Water</a:t>
            </a:r>
            <a:r>
              <a:rPr lang="ro-RO" sz="3600" dirty="0">
                <a:latin typeface="Broadway"/>
              </a:rPr>
              <a:t> Quality Monitoring </a:t>
            </a:r>
            <a:r>
              <a:rPr lang="ro-RO" sz="3600" err="1">
                <a:latin typeface="Broadway"/>
              </a:rPr>
              <a:t>System</a:t>
            </a:r>
            <a:r>
              <a:rPr lang="ro-RO" sz="3600" dirty="0">
                <a:latin typeface="Broadway"/>
              </a:rPr>
              <a:t> </a:t>
            </a:r>
            <a:r>
              <a:rPr lang="ro-RO" sz="3600" err="1">
                <a:latin typeface="Broadway"/>
              </a:rPr>
              <a:t>Using</a:t>
            </a:r>
            <a:r>
              <a:rPr lang="ro-RO" sz="3600" dirty="0">
                <a:latin typeface="Broadway"/>
              </a:rPr>
              <a:t> </a:t>
            </a:r>
            <a:r>
              <a:rPr lang="ro-RO" sz="3600" err="1">
                <a:latin typeface="Broadway"/>
              </a:rPr>
              <a:t>Edge</a:t>
            </a:r>
            <a:r>
              <a:rPr lang="ro-RO" sz="3600" dirty="0">
                <a:latin typeface="Broadway"/>
              </a:rPr>
              <a:t> Intelligence</a:t>
            </a:r>
          </a:p>
        </p:txBody>
      </p:sp>
      <p:sp>
        <p:nvSpPr>
          <p:cNvPr id="15"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Glass and digital lights">
            <a:extLst>
              <a:ext uri="{FF2B5EF4-FFF2-40B4-BE49-F238E27FC236}">
                <a16:creationId xmlns:a16="http://schemas.microsoft.com/office/drawing/2014/main" id="{19C16E51-884A-1433-8A71-F3F8F785F87E}"/>
              </a:ext>
            </a:extLst>
          </p:cNvPr>
          <p:cNvPicPr>
            <a:picLocks noChangeAspect="1"/>
          </p:cNvPicPr>
          <p:nvPr/>
        </p:nvPicPr>
        <p:blipFill>
          <a:blip r:embed="rId3"/>
          <a:srcRect l="18793" r="6865" b="5"/>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CasetăText 2">
            <a:extLst>
              <a:ext uri="{FF2B5EF4-FFF2-40B4-BE49-F238E27FC236}">
                <a16:creationId xmlns:a16="http://schemas.microsoft.com/office/drawing/2014/main" id="{C9924CA7-9954-88A9-0D98-4A953C123367}"/>
              </a:ext>
            </a:extLst>
          </p:cNvPr>
          <p:cNvSpPr txBox="1"/>
          <p:nvPr/>
        </p:nvSpPr>
        <p:spPr>
          <a:xfrm>
            <a:off x="703384" y="4703884"/>
            <a:ext cx="393671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o-RO" b="1" err="1">
                <a:latin typeface="Broadway"/>
              </a:rPr>
              <a:t>Students</a:t>
            </a:r>
            <a:r>
              <a:rPr lang="ro-RO" b="1" dirty="0">
                <a:latin typeface="Broadway"/>
              </a:rPr>
              <a:t>: </a:t>
            </a:r>
            <a:endParaRPr lang="ro-RO" b="1">
              <a:latin typeface="Broadway"/>
            </a:endParaRPr>
          </a:p>
          <a:p>
            <a:r>
              <a:rPr lang="ro-RO" dirty="0">
                <a:latin typeface="Sitka Text"/>
                <a:cs typeface="Aharoni"/>
              </a:rPr>
              <a:t>Popa Georgiana</a:t>
            </a:r>
          </a:p>
          <a:p>
            <a:r>
              <a:rPr lang="ro-RO" dirty="0">
                <a:latin typeface="Sitka Text"/>
                <a:cs typeface="Aharoni"/>
              </a:rPr>
              <a:t>Solari Roberta</a:t>
            </a:r>
          </a:p>
          <a:p>
            <a:r>
              <a:rPr lang="ro-RO" dirty="0">
                <a:latin typeface="Sitka Text"/>
                <a:cs typeface="Aharoni"/>
              </a:rPr>
              <a:t>Coandă Amelia</a:t>
            </a:r>
          </a:p>
          <a:p>
            <a:endParaRPr lang="ro-RO" dirty="0"/>
          </a:p>
        </p:txBody>
      </p:sp>
    </p:spTree>
    <p:extLst>
      <p:ext uri="{BB962C8B-B14F-4D97-AF65-F5344CB8AC3E}">
        <p14:creationId xmlns:p14="http://schemas.microsoft.com/office/powerpoint/2010/main" val="416759594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3833DB39-4091-3D11-8D37-B3B6776D8064}"/>
              </a:ext>
            </a:extLst>
          </p:cNvPr>
          <p:cNvSpPr>
            <a:spLocks noGrp="1"/>
          </p:cNvSpPr>
          <p:nvPr>
            <p:ph type="title"/>
          </p:nvPr>
        </p:nvSpPr>
        <p:spPr>
          <a:xfrm>
            <a:off x="572493" y="238539"/>
            <a:ext cx="11018520" cy="1434415"/>
          </a:xfrm>
        </p:spPr>
        <p:txBody>
          <a:bodyPr anchor="b">
            <a:normAutofit/>
          </a:bodyPr>
          <a:lstStyle/>
          <a:p>
            <a:r>
              <a:rPr lang="ro-RO" err="1">
                <a:latin typeface="Broadway"/>
              </a:rPr>
              <a:t>Overview</a:t>
            </a:r>
            <a:r>
              <a:rPr lang="ro-RO" dirty="0">
                <a:latin typeface="Broadway"/>
              </a:rPr>
              <a:t> </a:t>
            </a:r>
            <a:r>
              <a:rPr lang="ro-RO" err="1">
                <a:latin typeface="Broadway"/>
              </a:rPr>
              <a:t>and</a:t>
            </a:r>
            <a:r>
              <a:rPr lang="ro-RO" dirty="0">
                <a:latin typeface="Broadway"/>
              </a:rPr>
              <a:t> Project </a:t>
            </a:r>
            <a:r>
              <a:rPr lang="ro-RO" err="1">
                <a:latin typeface="Broadway"/>
              </a:rPr>
              <a:t>Goal</a:t>
            </a:r>
            <a:endParaRPr lang="ro-RO">
              <a:latin typeface="Broadway"/>
            </a:endParaRP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Substituent conținut 3">
            <a:extLst>
              <a:ext uri="{FF2B5EF4-FFF2-40B4-BE49-F238E27FC236}">
                <a16:creationId xmlns:a16="http://schemas.microsoft.com/office/drawing/2014/main" id="{7AF3102F-419F-4CFD-ADF6-67C905C4C5FA}"/>
              </a:ext>
            </a:extLst>
          </p:cNvPr>
          <p:cNvGraphicFramePr>
            <a:graphicFrameLocks noGrp="1"/>
          </p:cNvGraphicFramePr>
          <p:nvPr>
            <p:ph idx="1"/>
            <p:extLst>
              <p:ext uri="{D42A27DB-BD31-4B8C-83A1-F6EECF244321}">
                <p14:modId xmlns:p14="http://schemas.microsoft.com/office/powerpoint/2010/main" val="206779012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72493" y="2071316"/>
          <a:ext cx="6713552" cy="4119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5943279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389CEB86-7BD6-E8FE-F6F8-7C0DE29BA02C}"/>
              </a:ext>
            </a:extLst>
          </p:cNvPr>
          <p:cNvSpPr>
            <a:spLocks noGrp="1"/>
          </p:cNvSpPr>
          <p:nvPr>
            <p:ph type="title"/>
          </p:nvPr>
        </p:nvSpPr>
        <p:spPr>
          <a:xfrm>
            <a:off x="640080" y="501215"/>
            <a:ext cx="4368602" cy="1956841"/>
          </a:xfrm>
        </p:spPr>
        <p:txBody>
          <a:bodyPr vert="horz" lIns="91440" tIns="45720" rIns="91440" bIns="45720" rtlCol="0" anchor="b">
            <a:noAutofit/>
          </a:bodyPr>
          <a:lstStyle/>
          <a:p>
            <a:r>
              <a:rPr lang="en-US" dirty="0">
                <a:latin typeface="Broadway"/>
              </a:rPr>
              <a:t>Edge Intelligence and Adaptive Thresholds</a:t>
            </a:r>
          </a:p>
        </p:txBody>
      </p:sp>
      <p:sp>
        <p:nvSpPr>
          <p:cNvPr id="1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stituent conținut 3">
            <a:extLst>
              <a:ext uri="{FF2B5EF4-FFF2-40B4-BE49-F238E27FC236}">
                <a16:creationId xmlns:a16="http://schemas.microsoft.com/office/drawing/2014/main" id="{575F78D4-0730-F3DC-98A7-57248847B1D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872899"/>
            <a:ext cx="4243589" cy="3754422"/>
          </a:xfrm>
        </p:spPr>
        <p:txBody>
          <a:bodyPr vert="horz" lIns="91440" tIns="45720" rIns="91440" bIns="45720" rtlCol="0" anchor="t">
            <a:normAutofit fontScale="55000" lnSpcReduction="20000"/>
          </a:bodyPr>
          <a:lstStyle/>
          <a:p>
            <a:pPr marL="0" indent="0">
              <a:spcBef>
                <a:spcPts val="2500"/>
              </a:spcBef>
              <a:buFont typeface="Arial" panose="020B0604020202020204" pitchFamily="34" charset="0"/>
              <a:buNone/>
            </a:pPr>
            <a:r>
              <a:rPr lang="ro-RO" b="1" dirty="0">
                <a:latin typeface="Aharoni"/>
                <a:cs typeface="Aharoni"/>
              </a:rPr>
              <a:t>Adaptive </a:t>
            </a:r>
            <a:r>
              <a:rPr lang="ro-RO" b="1" err="1">
                <a:latin typeface="Aharoni"/>
                <a:cs typeface="Aharoni"/>
              </a:rPr>
              <a:t>Thresholds</a:t>
            </a:r>
            <a:r>
              <a:rPr lang="ro-RO" b="1" dirty="0">
                <a:latin typeface="Aharoni"/>
                <a:cs typeface="Aharoni"/>
              </a:rPr>
              <a:t> </a:t>
            </a:r>
            <a:r>
              <a:rPr lang="ro-RO" b="1" err="1">
                <a:latin typeface="Aharoni"/>
                <a:cs typeface="Aharoni"/>
              </a:rPr>
              <a:t>Usage</a:t>
            </a:r>
            <a:endParaRPr lang="ro-RO" b="1">
              <a:latin typeface="Aharoni"/>
              <a:cs typeface="Aharoni"/>
            </a:endParaRPr>
          </a:p>
          <a:p>
            <a:pPr marL="0" lvl="1" indent="0">
              <a:buFont typeface="Arial" panose="020B0604020202020204" pitchFamily="34" charset="0"/>
              <a:buNone/>
            </a:pPr>
            <a:r>
              <a:rPr lang="ro-RO" dirty="0">
                <a:latin typeface="Sitka Text"/>
              </a:rPr>
              <a:t>The </a:t>
            </a:r>
            <a:r>
              <a:rPr lang="ro-RO" err="1">
                <a:latin typeface="Sitka Text"/>
              </a:rPr>
              <a:t>system</a:t>
            </a:r>
            <a:r>
              <a:rPr lang="ro-RO" dirty="0">
                <a:latin typeface="Sitka Text"/>
              </a:rPr>
              <a:t> </a:t>
            </a:r>
            <a:r>
              <a:rPr lang="ro-RO" err="1">
                <a:latin typeface="Sitka Text"/>
              </a:rPr>
              <a:t>uses</a:t>
            </a:r>
            <a:r>
              <a:rPr lang="ro-RO" dirty="0">
                <a:latin typeface="Sitka Text"/>
              </a:rPr>
              <a:t> adaptive </a:t>
            </a:r>
            <a:r>
              <a:rPr lang="ro-RO" err="1">
                <a:latin typeface="Sitka Text"/>
              </a:rPr>
              <a:t>thresholds</a:t>
            </a:r>
            <a:r>
              <a:rPr lang="ro-RO" dirty="0">
                <a:latin typeface="Sitka Text"/>
              </a:rPr>
              <a:t> </a:t>
            </a:r>
            <a:r>
              <a:rPr lang="ro-RO" err="1">
                <a:latin typeface="Sitka Text"/>
              </a:rPr>
              <a:t>from</a:t>
            </a:r>
            <a:r>
              <a:rPr lang="ro-RO" dirty="0">
                <a:latin typeface="Sitka Text"/>
              </a:rPr>
              <a:t> </a:t>
            </a:r>
            <a:r>
              <a:rPr lang="ro-RO" err="1">
                <a:latin typeface="Sitka Text"/>
              </a:rPr>
              <a:t>moving</a:t>
            </a:r>
            <a:r>
              <a:rPr lang="ro-RO" dirty="0">
                <a:latin typeface="Sitka Text"/>
              </a:rPr>
              <a:t> </a:t>
            </a:r>
            <a:r>
              <a:rPr lang="ro-RO" err="1">
                <a:latin typeface="Sitka Text"/>
              </a:rPr>
              <a:t>averages</a:t>
            </a:r>
            <a:r>
              <a:rPr lang="ro-RO" dirty="0">
                <a:latin typeface="Sitka Text"/>
              </a:rPr>
              <a:t> </a:t>
            </a:r>
            <a:r>
              <a:rPr lang="ro-RO" err="1">
                <a:latin typeface="Sitka Text"/>
              </a:rPr>
              <a:t>to</a:t>
            </a:r>
            <a:r>
              <a:rPr lang="ro-RO" dirty="0">
                <a:latin typeface="Sitka Text"/>
              </a:rPr>
              <a:t> </a:t>
            </a:r>
            <a:r>
              <a:rPr lang="ro-RO" err="1">
                <a:latin typeface="Sitka Text"/>
              </a:rPr>
              <a:t>replace</a:t>
            </a:r>
            <a:r>
              <a:rPr lang="ro-RO" dirty="0">
                <a:latin typeface="Sitka Text"/>
              </a:rPr>
              <a:t> </a:t>
            </a:r>
            <a:r>
              <a:rPr lang="ro-RO" err="1">
                <a:latin typeface="Sitka Text"/>
              </a:rPr>
              <a:t>costly</a:t>
            </a:r>
            <a:r>
              <a:rPr lang="ro-RO" dirty="0">
                <a:latin typeface="Sitka Text"/>
              </a:rPr>
              <a:t> neural </a:t>
            </a:r>
            <a:r>
              <a:rPr lang="ro-RO" err="1">
                <a:latin typeface="Sitka Text"/>
              </a:rPr>
              <a:t>networks</a:t>
            </a:r>
            <a:r>
              <a:rPr lang="ro-RO" dirty="0">
                <a:latin typeface="Sitka Text"/>
              </a:rPr>
              <a:t> </a:t>
            </a:r>
            <a:r>
              <a:rPr lang="ro-RO" err="1">
                <a:latin typeface="Sitka Text"/>
              </a:rPr>
              <a:t>effectively</a:t>
            </a:r>
            <a:r>
              <a:rPr lang="ro-RO" dirty="0">
                <a:latin typeface="Sitka Text"/>
              </a:rPr>
              <a:t>.</a:t>
            </a:r>
          </a:p>
          <a:p>
            <a:pPr marL="0" indent="0">
              <a:spcBef>
                <a:spcPts val="2500"/>
              </a:spcBef>
              <a:buFont typeface="Arial" panose="020B0604020202020204" pitchFamily="34" charset="0"/>
              <a:buNone/>
            </a:pPr>
            <a:r>
              <a:rPr lang="ro-RO" b="1" err="1">
                <a:latin typeface="Aharoni"/>
                <a:cs typeface="Aharoni"/>
              </a:rPr>
              <a:t>Dynamic</a:t>
            </a:r>
            <a:r>
              <a:rPr lang="ro-RO" b="1" dirty="0">
                <a:latin typeface="Aharoni"/>
                <a:cs typeface="Aharoni"/>
              </a:rPr>
              <a:t> </a:t>
            </a:r>
            <a:r>
              <a:rPr lang="ro-RO" b="1" err="1">
                <a:latin typeface="Aharoni"/>
                <a:cs typeface="Aharoni"/>
              </a:rPr>
              <a:t>Water</a:t>
            </a:r>
            <a:r>
              <a:rPr lang="ro-RO" b="1" dirty="0">
                <a:latin typeface="Aharoni"/>
                <a:cs typeface="Aharoni"/>
              </a:rPr>
              <a:t> Quality </a:t>
            </a:r>
            <a:r>
              <a:rPr lang="ro-RO" b="1" err="1">
                <a:latin typeface="Aharoni"/>
                <a:cs typeface="Aharoni"/>
              </a:rPr>
              <a:t>Detection</a:t>
            </a:r>
            <a:endParaRPr lang="ro-RO" b="1">
              <a:latin typeface="Aharoni"/>
              <a:cs typeface="Aharoni"/>
            </a:endParaRPr>
          </a:p>
          <a:p>
            <a:pPr marL="0" lvl="1" indent="0">
              <a:buFont typeface="Arial" panose="020B0604020202020204" pitchFamily="34" charset="0"/>
              <a:buNone/>
            </a:pPr>
            <a:r>
              <a:rPr lang="ro-RO" err="1">
                <a:latin typeface="Sitka Text"/>
              </a:rPr>
              <a:t>Devices</a:t>
            </a:r>
            <a:r>
              <a:rPr lang="ro-RO" dirty="0">
                <a:latin typeface="Sitka Text"/>
              </a:rPr>
              <a:t> </a:t>
            </a:r>
            <a:r>
              <a:rPr lang="ro-RO" err="1">
                <a:latin typeface="Sitka Text"/>
              </a:rPr>
              <a:t>dynamically</a:t>
            </a:r>
            <a:r>
              <a:rPr lang="ro-RO" dirty="0">
                <a:latin typeface="Sitka Text"/>
              </a:rPr>
              <a:t> </a:t>
            </a:r>
            <a:r>
              <a:rPr lang="ro-RO" err="1">
                <a:latin typeface="Sitka Text"/>
              </a:rPr>
              <a:t>detect</a:t>
            </a:r>
            <a:r>
              <a:rPr lang="ro-RO" dirty="0">
                <a:latin typeface="Sitka Text"/>
              </a:rPr>
              <a:t> safe </a:t>
            </a:r>
            <a:r>
              <a:rPr lang="ro-RO" err="1">
                <a:latin typeface="Sitka Text"/>
              </a:rPr>
              <a:t>water</a:t>
            </a:r>
            <a:r>
              <a:rPr lang="ro-RO" dirty="0">
                <a:latin typeface="Sitka Text"/>
              </a:rPr>
              <a:t> quality </a:t>
            </a:r>
            <a:r>
              <a:rPr lang="ro-RO" err="1">
                <a:latin typeface="Sitka Text"/>
              </a:rPr>
              <a:t>ranges</a:t>
            </a:r>
            <a:r>
              <a:rPr lang="ro-RO" dirty="0">
                <a:latin typeface="Sitka Text"/>
              </a:rPr>
              <a:t> </a:t>
            </a:r>
            <a:r>
              <a:rPr lang="ro-RO" err="1">
                <a:latin typeface="Sitka Text"/>
              </a:rPr>
              <a:t>by</a:t>
            </a:r>
            <a:r>
              <a:rPr lang="ro-RO" dirty="0">
                <a:latin typeface="Sitka Text"/>
              </a:rPr>
              <a:t> </a:t>
            </a:r>
            <a:r>
              <a:rPr lang="ro-RO" err="1">
                <a:latin typeface="Sitka Text"/>
              </a:rPr>
              <a:t>adjusting</a:t>
            </a:r>
            <a:r>
              <a:rPr lang="ro-RO" dirty="0">
                <a:latin typeface="Sitka Text"/>
              </a:rPr>
              <a:t> </a:t>
            </a:r>
            <a:r>
              <a:rPr lang="ro-RO" err="1">
                <a:latin typeface="Sitka Text"/>
              </a:rPr>
              <a:t>to</a:t>
            </a:r>
            <a:r>
              <a:rPr lang="ro-RO" dirty="0">
                <a:latin typeface="Sitka Text"/>
              </a:rPr>
              <a:t> </a:t>
            </a:r>
            <a:r>
              <a:rPr lang="ro-RO" err="1">
                <a:latin typeface="Sitka Text"/>
              </a:rPr>
              <a:t>sensor</a:t>
            </a:r>
            <a:r>
              <a:rPr lang="ro-RO" dirty="0">
                <a:latin typeface="Sitka Text"/>
              </a:rPr>
              <a:t> </a:t>
            </a:r>
            <a:r>
              <a:rPr lang="ro-RO" err="1">
                <a:latin typeface="Sitka Text"/>
              </a:rPr>
              <a:t>readings</a:t>
            </a:r>
            <a:r>
              <a:rPr lang="ro-RO" dirty="0">
                <a:latin typeface="Sitka Text"/>
              </a:rPr>
              <a:t> in real </a:t>
            </a:r>
            <a:r>
              <a:rPr lang="ro-RO" err="1">
                <a:latin typeface="Sitka Text"/>
              </a:rPr>
              <a:t>time</a:t>
            </a:r>
            <a:r>
              <a:rPr lang="ro-RO" dirty="0">
                <a:latin typeface="Sitka Text"/>
              </a:rPr>
              <a:t>.</a:t>
            </a:r>
          </a:p>
          <a:p>
            <a:pPr marL="0" indent="0">
              <a:spcBef>
                <a:spcPts val="2500"/>
              </a:spcBef>
              <a:buFont typeface="Arial" panose="020B0604020202020204" pitchFamily="34" charset="0"/>
              <a:buNone/>
            </a:pPr>
            <a:r>
              <a:rPr lang="ro-RO" b="1" err="1">
                <a:latin typeface="Aharoni"/>
                <a:cs typeface="Aharoni"/>
              </a:rPr>
              <a:t>Handling</a:t>
            </a:r>
            <a:r>
              <a:rPr lang="ro-RO" b="1" dirty="0">
                <a:latin typeface="Aharoni"/>
                <a:cs typeface="Aharoni"/>
              </a:rPr>
              <a:t> </a:t>
            </a:r>
            <a:r>
              <a:rPr lang="ro-RO" b="1" err="1">
                <a:latin typeface="Aharoni"/>
                <a:cs typeface="Aharoni"/>
              </a:rPr>
              <a:t>Sensor</a:t>
            </a:r>
            <a:r>
              <a:rPr lang="ro-RO" b="1" dirty="0">
                <a:latin typeface="Aharoni"/>
                <a:cs typeface="Aharoni"/>
              </a:rPr>
              <a:t> </a:t>
            </a:r>
            <a:r>
              <a:rPr lang="ro-RO" b="1" err="1">
                <a:latin typeface="Aharoni"/>
                <a:cs typeface="Aharoni"/>
              </a:rPr>
              <a:t>Noise</a:t>
            </a:r>
            <a:r>
              <a:rPr lang="ro-RO" b="1" dirty="0">
                <a:latin typeface="Aharoni"/>
                <a:cs typeface="Aharoni"/>
              </a:rPr>
              <a:t> </a:t>
            </a:r>
            <a:r>
              <a:rPr lang="ro-RO" b="1" err="1">
                <a:latin typeface="Aharoni"/>
                <a:cs typeface="Aharoni"/>
              </a:rPr>
              <a:t>and</a:t>
            </a:r>
            <a:r>
              <a:rPr lang="ro-RO" b="1" dirty="0">
                <a:latin typeface="Aharoni"/>
                <a:cs typeface="Aharoni"/>
              </a:rPr>
              <a:t> </a:t>
            </a:r>
            <a:r>
              <a:rPr lang="ro-RO" b="1" err="1">
                <a:latin typeface="Aharoni"/>
                <a:cs typeface="Aharoni"/>
              </a:rPr>
              <a:t>Drift</a:t>
            </a:r>
            <a:endParaRPr lang="ro-RO" b="1">
              <a:latin typeface="Aharoni"/>
              <a:cs typeface="Aharoni"/>
            </a:endParaRPr>
          </a:p>
          <a:p>
            <a:pPr marL="0" lvl="1" indent="0">
              <a:buNone/>
            </a:pPr>
            <a:r>
              <a:rPr lang="ro-RO" dirty="0">
                <a:latin typeface="Sitka Text"/>
              </a:rPr>
              <a:t>Adaptive </a:t>
            </a:r>
            <a:r>
              <a:rPr lang="ro-RO" err="1">
                <a:latin typeface="Sitka Text"/>
              </a:rPr>
              <a:t>thresholds</a:t>
            </a:r>
            <a:r>
              <a:rPr lang="ro-RO" dirty="0">
                <a:latin typeface="Sitka Text"/>
              </a:rPr>
              <a:t> </a:t>
            </a:r>
            <a:r>
              <a:rPr lang="ro-RO" err="1">
                <a:latin typeface="Sitka Text"/>
              </a:rPr>
              <a:t>help</a:t>
            </a:r>
            <a:r>
              <a:rPr lang="ro-RO" dirty="0">
                <a:latin typeface="Sitka Text"/>
              </a:rPr>
              <a:t> </a:t>
            </a:r>
            <a:r>
              <a:rPr lang="ro-RO" err="1">
                <a:latin typeface="Sitka Text"/>
              </a:rPr>
              <a:t>manage</a:t>
            </a:r>
            <a:r>
              <a:rPr lang="ro-RO" dirty="0">
                <a:latin typeface="Sitka Text"/>
              </a:rPr>
              <a:t> </a:t>
            </a:r>
            <a:r>
              <a:rPr lang="ro-RO" err="1">
                <a:latin typeface="Sitka Text"/>
              </a:rPr>
              <a:t>sensor</a:t>
            </a:r>
            <a:r>
              <a:rPr lang="ro-RO" dirty="0">
                <a:latin typeface="Sitka Text"/>
              </a:rPr>
              <a:t> </a:t>
            </a:r>
            <a:r>
              <a:rPr lang="ro-RO" err="1">
                <a:latin typeface="Sitka Text"/>
              </a:rPr>
              <a:t>noise</a:t>
            </a:r>
            <a:r>
              <a:rPr lang="ro-RO" dirty="0">
                <a:latin typeface="Sitka Text"/>
              </a:rPr>
              <a:t> </a:t>
            </a:r>
            <a:r>
              <a:rPr lang="ro-RO" err="1">
                <a:latin typeface="Sitka Text"/>
              </a:rPr>
              <a:t>and</a:t>
            </a:r>
            <a:r>
              <a:rPr lang="ro-RO" dirty="0">
                <a:latin typeface="Sitka Text"/>
              </a:rPr>
              <a:t> </a:t>
            </a:r>
            <a:r>
              <a:rPr lang="ro-RO" err="1">
                <a:latin typeface="Sitka Text"/>
              </a:rPr>
              <a:t>drift</a:t>
            </a:r>
            <a:r>
              <a:rPr lang="ro-RO" dirty="0">
                <a:latin typeface="Sitka Text"/>
              </a:rPr>
              <a:t> for </a:t>
            </a:r>
            <a:r>
              <a:rPr lang="ro-RO" err="1">
                <a:latin typeface="Sitka Text"/>
              </a:rPr>
              <a:t>reliable</a:t>
            </a:r>
            <a:r>
              <a:rPr lang="ro-RO" dirty="0">
                <a:latin typeface="Sitka Text"/>
              </a:rPr>
              <a:t> </a:t>
            </a:r>
            <a:r>
              <a:rPr lang="ro-RO" err="1">
                <a:latin typeface="Sitka Text"/>
              </a:rPr>
              <a:t>anomaly</a:t>
            </a:r>
            <a:r>
              <a:rPr lang="ro-RO" dirty="0">
                <a:latin typeface="Sitka Text"/>
              </a:rPr>
              <a:t> </a:t>
            </a:r>
            <a:r>
              <a:rPr lang="ro-RO" err="1">
                <a:latin typeface="Sitka Text"/>
              </a:rPr>
              <a:t>detection</a:t>
            </a:r>
            <a:r>
              <a:rPr lang="ro-RO" dirty="0">
                <a:latin typeface="Sitka Text"/>
              </a:rPr>
              <a:t>.</a:t>
            </a:r>
            <a:endParaRPr lang="ro-RO">
              <a:latin typeface="Sitka Text"/>
            </a:endParaRPr>
          </a:p>
          <a:p>
            <a:pPr marL="0" indent="0">
              <a:spcBef>
                <a:spcPts val="2500"/>
              </a:spcBef>
              <a:buFont typeface="Arial" panose="020B0604020202020204" pitchFamily="34" charset="0"/>
              <a:buNone/>
            </a:pPr>
            <a:r>
              <a:rPr lang="ro-RO" b="1" err="1">
                <a:latin typeface="Aharoni"/>
                <a:cs typeface="Aharoni"/>
              </a:rPr>
              <a:t>Suitability</a:t>
            </a:r>
            <a:r>
              <a:rPr lang="ro-RO" b="1" dirty="0">
                <a:latin typeface="Aharoni"/>
                <a:cs typeface="Aharoni"/>
              </a:rPr>
              <a:t> for </a:t>
            </a:r>
            <a:r>
              <a:rPr lang="ro-RO" b="1" err="1">
                <a:latin typeface="Aharoni"/>
                <a:cs typeface="Aharoni"/>
              </a:rPr>
              <a:t>Low-Resource</a:t>
            </a:r>
            <a:r>
              <a:rPr lang="ro-RO" b="1" dirty="0">
                <a:latin typeface="Aharoni"/>
                <a:cs typeface="Aharoni"/>
              </a:rPr>
              <a:t> </a:t>
            </a:r>
            <a:r>
              <a:rPr lang="ro-RO" b="1" err="1">
                <a:latin typeface="Aharoni"/>
                <a:cs typeface="Aharoni"/>
              </a:rPr>
              <a:t>Deployments</a:t>
            </a:r>
            <a:endParaRPr lang="ro-RO" b="1">
              <a:latin typeface="Aharoni"/>
              <a:cs typeface="Aharoni"/>
            </a:endParaRPr>
          </a:p>
          <a:p>
            <a:pPr marL="0" lvl="1" indent="0">
              <a:buFont typeface="Arial" panose="020B0604020202020204" pitchFamily="34" charset="0"/>
              <a:buNone/>
            </a:pPr>
            <a:r>
              <a:rPr lang="ro-RO" err="1">
                <a:latin typeface="Sitka Text"/>
              </a:rPr>
              <a:t>This</a:t>
            </a:r>
            <a:r>
              <a:rPr lang="ro-RO" dirty="0">
                <a:latin typeface="Sitka Text"/>
              </a:rPr>
              <a:t> </a:t>
            </a:r>
            <a:r>
              <a:rPr lang="ro-RO" err="1">
                <a:latin typeface="Sitka Text"/>
              </a:rPr>
              <a:t>approach</a:t>
            </a:r>
            <a:r>
              <a:rPr lang="ro-RO" dirty="0">
                <a:latin typeface="Sitka Text"/>
              </a:rPr>
              <a:t> </a:t>
            </a:r>
            <a:r>
              <a:rPr lang="ro-RO" err="1">
                <a:latin typeface="Sitka Text"/>
              </a:rPr>
              <a:t>is</a:t>
            </a:r>
            <a:r>
              <a:rPr lang="ro-RO" dirty="0">
                <a:latin typeface="Sitka Text"/>
              </a:rPr>
              <a:t> </a:t>
            </a:r>
            <a:r>
              <a:rPr lang="ro-RO" err="1">
                <a:latin typeface="Sitka Text"/>
              </a:rPr>
              <a:t>efficient</a:t>
            </a:r>
            <a:r>
              <a:rPr lang="ro-RO" dirty="0">
                <a:latin typeface="Sitka Text"/>
              </a:rPr>
              <a:t> </a:t>
            </a:r>
            <a:r>
              <a:rPr lang="ro-RO" err="1">
                <a:latin typeface="Sitka Text"/>
              </a:rPr>
              <a:t>and</a:t>
            </a:r>
            <a:r>
              <a:rPr lang="ro-RO" dirty="0">
                <a:latin typeface="Sitka Text"/>
              </a:rPr>
              <a:t> ideal for real-</a:t>
            </a:r>
            <a:r>
              <a:rPr lang="ro-RO" err="1">
                <a:latin typeface="Sitka Text"/>
              </a:rPr>
              <a:t>world</a:t>
            </a:r>
            <a:r>
              <a:rPr lang="ro-RO" dirty="0">
                <a:latin typeface="Sitka Text"/>
              </a:rPr>
              <a:t> </a:t>
            </a:r>
            <a:r>
              <a:rPr lang="ro-RO" err="1">
                <a:latin typeface="Sitka Text"/>
              </a:rPr>
              <a:t>deployment</a:t>
            </a:r>
            <a:r>
              <a:rPr lang="ro-RO" dirty="0">
                <a:latin typeface="Sitka Text"/>
              </a:rPr>
              <a:t> in </a:t>
            </a:r>
            <a:r>
              <a:rPr lang="ro-RO" err="1">
                <a:latin typeface="Sitka Text"/>
              </a:rPr>
              <a:t>devices</a:t>
            </a:r>
            <a:r>
              <a:rPr lang="ro-RO" dirty="0">
                <a:latin typeface="Sitka Text"/>
              </a:rPr>
              <a:t> </a:t>
            </a:r>
            <a:r>
              <a:rPr lang="ro-RO" err="1">
                <a:latin typeface="Sitka Text"/>
              </a:rPr>
              <a:t>with</a:t>
            </a:r>
            <a:r>
              <a:rPr lang="ro-RO" dirty="0">
                <a:latin typeface="Sitka Text"/>
              </a:rPr>
              <a:t> limited </a:t>
            </a:r>
            <a:r>
              <a:rPr lang="ro-RO" err="1">
                <a:latin typeface="Sitka Text"/>
              </a:rPr>
              <a:t>resources</a:t>
            </a:r>
            <a:r>
              <a:rPr lang="ro-RO" dirty="0">
                <a:latin typeface="Sitka Text"/>
              </a:rPr>
              <a:t>.</a:t>
            </a:r>
          </a:p>
        </p:txBody>
      </p:sp>
      <p:pic>
        <p:nvPicPr>
          <p:cNvPr id="5" name="Substituent conținut 4" descr="Tehnologia procesoarelor, inteligența artificială, hardware-ul calculatorului, plăcile de circuit, modernizarea datelor">
            <a:extLst>
              <a:ext uri="{FF2B5EF4-FFF2-40B4-BE49-F238E27FC236}">
                <a16:creationId xmlns:a16="http://schemas.microsoft.com/office/drawing/2014/main" id="{CF8E230D-B406-47AD-94D2-7D40211EE0AE}"/>
              </a:ext>
            </a:extLst>
          </p:cNvPr>
          <p:cNvPicPr>
            <a:picLocks noGrp="1" noChangeAspect="1"/>
          </p:cNvPicPr>
          <p:nvPr>
            <p:ph sz="half" idx="1"/>
          </p:nvPr>
        </p:nvPicPr>
        <p:blipFill>
          <a:blip r:embed="rId3"/>
          <a:srcRect l="32251" r="13837"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93784299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68E83BF3-49FF-1543-499D-4A55E2B19807}"/>
              </a:ext>
            </a:extLst>
          </p:cNvPr>
          <p:cNvSpPr>
            <a:spLocks noGrp="1"/>
          </p:cNvSpPr>
          <p:nvPr>
            <p:ph type="title"/>
          </p:nvPr>
        </p:nvSpPr>
        <p:spPr>
          <a:xfrm>
            <a:off x="5297762" y="329184"/>
            <a:ext cx="6251110" cy="1783080"/>
          </a:xfrm>
        </p:spPr>
        <p:txBody>
          <a:bodyPr vert="horz" lIns="91440" tIns="45720" rIns="91440" bIns="45720" rtlCol="0" anchor="b">
            <a:noAutofit/>
          </a:bodyPr>
          <a:lstStyle/>
          <a:p>
            <a:r>
              <a:rPr lang="en-US" dirty="0">
                <a:latin typeface="Broadway"/>
              </a:rPr>
              <a:t>System Design and Software Implementation</a:t>
            </a:r>
            <a:endParaRPr lang="ro-RO" dirty="0">
              <a:latin typeface="Broadway"/>
            </a:endParaRPr>
          </a:p>
        </p:txBody>
      </p:sp>
      <p:pic>
        <p:nvPicPr>
          <p:cNvPr id="5" name="Substituent conținut 4" descr="Cod binar, date, afișaj digital, simbol">
            <a:extLst>
              <a:ext uri="{FF2B5EF4-FFF2-40B4-BE49-F238E27FC236}">
                <a16:creationId xmlns:a16="http://schemas.microsoft.com/office/drawing/2014/main" id="{2833DF88-DF7F-4B64-94DE-2EE62679C2A7}"/>
              </a:ext>
            </a:extLst>
          </p:cNvPr>
          <p:cNvPicPr>
            <a:picLocks noGrp="1" noChangeAspect="1"/>
          </p:cNvPicPr>
          <p:nvPr>
            <p:ph sz="half" idx="1"/>
          </p:nvPr>
        </p:nvPicPr>
        <p:blipFill>
          <a:blip r:embed="rId3"/>
          <a:srcRect l="14080" r="47720"/>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4"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stituent conținut 3">
            <a:extLst>
              <a:ext uri="{FF2B5EF4-FFF2-40B4-BE49-F238E27FC236}">
                <a16:creationId xmlns:a16="http://schemas.microsoft.com/office/drawing/2014/main" id="{A1F921BE-E20A-7545-9F4F-ABD6CCBAC75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97762" y="2706624"/>
            <a:ext cx="6251110" cy="3483864"/>
          </a:xfrm>
        </p:spPr>
        <p:txBody>
          <a:bodyPr vert="horz" lIns="91440" tIns="45720" rIns="91440" bIns="45720" rtlCol="0" anchor="t">
            <a:normAutofit fontScale="85000" lnSpcReduction="20000"/>
          </a:bodyPr>
          <a:lstStyle/>
          <a:p>
            <a:pPr marL="0" indent="0">
              <a:spcBef>
                <a:spcPts val="2500"/>
              </a:spcBef>
              <a:buNone/>
            </a:pPr>
            <a:r>
              <a:rPr lang="ro-RO" b="1" err="1">
                <a:latin typeface="Aharoni"/>
                <a:ea typeface="+mn-lt"/>
                <a:cs typeface="Aharoni"/>
              </a:rPr>
              <a:t>Sensor</a:t>
            </a:r>
            <a:r>
              <a:rPr lang="ro-RO" b="1" dirty="0">
                <a:latin typeface="Aharoni"/>
                <a:ea typeface="+mn-lt"/>
                <a:cs typeface="Aharoni"/>
              </a:rPr>
              <a:t> data </a:t>
            </a:r>
            <a:r>
              <a:rPr lang="ro-RO" b="1" err="1">
                <a:latin typeface="Aharoni"/>
                <a:ea typeface="+mn-lt"/>
                <a:cs typeface="Aharoni"/>
              </a:rPr>
              <a:t>generation</a:t>
            </a:r>
            <a:r>
              <a:rPr lang="ro-RO" b="1" dirty="0">
                <a:latin typeface="Aharoni"/>
                <a:ea typeface="+mn-lt"/>
                <a:cs typeface="Aharoni"/>
              </a:rPr>
              <a:t> </a:t>
            </a:r>
            <a:endParaRPr lang="ro-RO" b="1" dirty="0">
              <a:latin typeface="Aharoni"/>
              <a:cs typeface="Aharoni"/>
            </a:endParaRPr>
          </a:p>
          <a:p>
            <a:pPr marL="0" lvl="1" indent="0">
              <a:buNone/>
            </a:pPr>
            <a:r>
              <a:rPr lang="ro-RO" dirty="0">
                <a:latin typeface="Sitka Text"/>
                <a:ea typeface="+mn-lt"/>
                <a:cs typeface="+mn-lt"/>
              </a:rPr>
              <a:t>The sensor_simulator.py module </a:t>
            </a:r>
            <a:r>
              <a:rPr lang="ro-RO" err="1">
                <a:latin typeface="Sitka Text"/>
                <a:ea typeface="+mn-lt"/>
                <a:cs typeface="+mn-lt"/>
              </a:rPr>
              <a:t>creates</a:t>
            </a:r>
            <a:r>
              <a:rPr lang="ro-RO" dirty="0">
                <a:latin typeface="Sitka Text"/>
                <a:ea typeface="+mn-lt"/>
                <a:cs typeface="+mn-lt"/>
              </a:rPr>
              <a:t> </a:t>
            </a:r>
            <a:r>
              <a:rPr lang="ro-RO" err="1">
                <a:latin typeface="Sitka Text"/>
                <a:ea typeface="+mn-lt"/>
                <a:cs typeface="+mn-lt"/>
              </a:rPr>
              <a:t>synthetic</a:t>
            </a:r>
            <a:r>
              <a:rPr lang="ro-RO" dirty="0">
                <a:latin typeface="Sitka Text"/>
                <a:ea typeface="+mn-lt"/>
                <a:cs typeface="+mn-lt"/>
              </a:rPr>
              <a:t> data </a:t>
            </a:r>
            <a:r>
              <a:rPr lang="ro-RO" err="1">
                <a:latin typeface="Sitka Text"/>
                <a:ea typeface="+mn-lt"/>
                <a:cs typeface="+mn-lt"/>
              </a:rPr>
              <a:t>that</a:t>
            </a:r>
            <a:r>
              <a:rPr lang="ro-RO" dirty="0">
                <a:latin typeface="Sitka Text"/>
                <a:ea typeface="+mn-lt"/>
                <a:cs typeface="+mn-lt"/>
              </a:rPr>
              <a:t> </a:t>
            </a:r>
            <a:r>
              <a:rPr lang="ro-RO" err="1">
                <a:latin typeface="Sitka Text"/>
                <a:ea typeface="+mn-lt"/>
                <a:cs typeface="+mn-lt"/>
              </a:rPr>
              <a:t>simulates</a:t>
            </a:r>
            <a:r>
              <a:rPr lang="ro-RO" dirty="0">
                <a:latin typeface="Sitka Text"/>
                <a:ea typeface="+mn-lt"/>
                <a:cs typeface="+mn-lt"/>
              </a:rPr>
              <a:t> real </a:t>
            </a:r>
            <a:r>
              <a:rPr lang="ro-RO" err="1">
                <a:latin typeface="Sitka Text"/>
                <a:ea typeface="+mn-lt"/>
                <a:cs typeface="+mn-lt"/>
              </a:rPr>
              <a:t>sensors</a:t>
            </a:r>
            <a:r>
              <a:rPr lang="ro-RO" dirty="0">
                <a:latin typeface="Sitka Text"/>
                <a:ea typeface="+mn-lt"/>
                <a:cs typeface="+mn-lt"/>
              </a:rPr>
              <a:t> for </a:t>
            </a:r>
            <a:r>
              <a:rPr lang="ro-RO" err="1">
                <a:latin typeface="Sitka Text"/>
                <a:ea typeface="+mn-lt"/>
                <a:cs typeface="+mn-lt"/>
              </a:rPr>
              <a:t>testing</a:t>
            </a:r>
            <a:r>
              <a:rPr lang="ro-RO" dirty="0">
                <a:latin typeface="Sitka Text"/>
                <a:ea typeface="+mn-lt"/>
                <a:cs typeface="+mn-lt"/>
              </a:rPr>
              <a:t> </a:t>
            </a:r>
            <a:r>
              <a:rPr lang="ro-RO" err="1">
                <a:latin typeface="Sitka Text"/>
                <a:ea typeface="+mn-lt"/>
                <a:cs typeface="+mn-lt"/>
              </a:rPr>
              <a:t>and</a:t>
            </a:r>
            <a:r>
              <a:rPr lang="ro-RO" dirty="0">
                <a:latin typeface="Sitka Text"/>
                <a:ea typeface="+mn-lt"/>
                <a:cs typeface="+mn-lt"/>
              </a:rPr>
              <a:t> </a:t>
            </a:r>
            <a:r>
              <a:rPr lang="ro-RO" err="1">
                <a:latin typeface="Sitka Text"/>
                <a:ea typeface="+mn-lt"/>
                <a:cs typeface="+mn-lt"/>
              </a:rPr>
              <a:t>development</a:t>
            </a:r>
            <a:r>
              <a:rPr lang="ro-RO" dirty="0">
                <a:latin typeface="Sitka Text"/>
                <a:ea typeface="+mn-lt"/>
                <a:cs typeface="+mn-lt"/>
              </a:rPr>
              <a:t>.</a:t>
            </a:r>
          </a:p>
          <a:p>
            <a:pPr marL="0" indent="0">
              <a:spcBef>
                <a:spcPts val="2500"/>
              </a:spcBef>
              <a:buNone/>
            </a:pPr>
            <a:r>
              <a:rPr lang="ro-RO" b="1" err="1">
                <a:latin typeface="Aharoni"/>
                <a:ea typeface="+mn-lt"/>
                <a:cs typeface="Aharoni"/>
              </a:rPr>
              <a:t>Sliding</a:t>
            </a:r>
            <a:r>
              <a:rPr lang="ro-RO" b="1" dirty="0">
                <a:latin typeface="Aharoni"/>
                <a:ea typeface="+mn-lt"/>
                <a:cs typeface="Aharoni"/>
              </a:rPr>
              <a:t> </a:t>
            </a:r>
            <a:r>
              <a:rPr lang="ro-RO" b="1" err="1">
                <a:latin typeface="Aharoni"/>
                <a:ea typeface="+mn-lt"/>
                <a:cs typeface="Aharoni"/>
              </a:rPr>
              <a:t>window</a:t>
            </a:r>
            <a:r>
              <a:rPr lang="ro-RO" b="1" dirty="0">
                <a:latin typeface="Aharoni"/>
                <a:ea typeface="+mn-lt"/>
                <a:cs typeface="Aharoni"/>
              </a:rPr>
              <a:t> data </a:t>
            </a:r>
            <a:r>
              <a:rPr lang="ro-RO" b="1" err="1">
                <a:latin typeface="Aharoni"/>
                <a:ea typeface="+mn-lt"/>
                <a:cs typeface="Aharoni"/>
              </a:rPr>
              <a:t>processing</a:t>
            </a:r>
            <a:r>
              <a:rPr lang="ro-RO" b="1" dirty="0">
                <a:latin typeface="Aharoni"/>
                <a:ea typeface="+mn-lt"/>
                <a:cs typeface="Aharoni"/>
              </a:rPr>
              <a:t> </a:t>
            </a:r>
            <a:endParaRPr lang="ro-RO" b="1" dirty="0">
              <a:latin typeface="Aharoni"/>
              <a:cs typeface="Aharoni"/>
            </a:endParaRPr>
          </a:p>
          <a:p>
            <a:pPr marL="0" lvl="1" indent="0">
              <a:buNone/>
            </a:pPr>
            <a:r>
              <a:rPr lang="ro-RO" dirty="0">
                <a:latin typeface="Sitka Text"/>
                <a:ea typeface="+mn-lt"/>
                <a:cs typeface="+mn-lt"/>
              </a:rPr>
              <a:t>The water_quality_monitor.py module </a:t>
            </a:r>
            <a:r>
              <a:rPr lang="ro-RO" err="1">
                <a:latin typeface="Sitka Text"/>
                <a:ea typeface="+mn-lt"/>
                <a:cs typeface="+mn-lt"/>
              </a:rPr>
              <a:t>processes</a:t>
            </a:r>
            <a:r>
              <a:rPr lang="ro-RO" dirty="0">
                <a:latin typeface="Sitka Text"/>
                <a:ea typeface="+mn-lt"/>
                <a:cs typeface="+mn-lt"/>
              </a:rPr>
              <a:t> data </a:t>
            </a:r>
            <a:r>
              <a:rPr lang="ro-RO" err="1">
                <a:latin typeface="Sitka Text"/>
                <a:ea typeface="+mn-lt"/>
                <a:cs typeface="+mn-lt"/>
              </a:rPr>
              <a:t>using</a:t>
            </a:r>
            <a:r>
              <a:rPr lang="ro-RO" dirty="0">
                <a:latin typeface="Sitka Text"/>
                <a:ea typeface="+mn-lt"/>
                <a:cs typeface="+mn-lt"/>
              </a:rPr>
              <a:t> </a:t>
            </a:r>
            <a:r>
              <a:rPr lang="ro-RO" err="1">
                <a:latin typeface="Sitka Text"/>
                <a:ea typeface="+mn-lt"/>
                <a:cs typeface="+mn-lt"/>
              </a:rPr>
              <a:t>sliding</a:t>
            </a:r>
            <a:r>
              <a:rPr lang="ro-RO" dirty="0">
                <a:latin typeface="Sitka Text"/>
                <a:ea typeface="+mn-lt"/>
                <a:cs typeface="+mn-lt"/>
              </a:rPr>
              <a:t> </a:t>
            </a:r>
            <a:r>
              <a:rPr lang="ro-RO" err="1">
                <a:latin typeface="Sitka Text"/>
                <a:ea typeface="+mn-lt"/>
                <a:cs typeface="+mn-lt"/>
              </a:rPr>
              <a:t>window</a:t>
            </a:r>
            <a:r>
              <a:rPr lang="ro-RO" dirty="0">
                <a:latin typeface="Sitka Text"/>
                <a:ea typeface="+mn-lt"/>
                <a:cs typeface="+mn-lt"/>
              </a:rPr>
              <a:t> </a:t>
            </a:r>
            <a:r>
              <a:rPr lang="ro-RO" err="1">
                <a:latin typeface="Sitka Text"/>
                <a:ea typeface="+mn-lt"/>
                <a:cs typeface="+mn-lt"/>
              </a:rPr>
              <a:t>algorithms</a:t>
            </a:r>
            <a:r>
              <a:rPr lang="ro-RO" dirty="0">
                <a:latin typeface="Sitka Text"/>
                <a:ea typeface="+mn-lt"/>
                <a:cs typeface="+mn-lt"/>
              </a:rPr>
              <a:t> for </a:t>
            </a:r>
            <a:r>
              <a:rPr lang="ro-RO" err="1">
                <a:latin typeface="Sitka Text"/>
                <a:ea typeface="+mn-lt"/>
                <a:cs typeface="+mn-lt"/>
              </a:rPr>
              <a:t>anomaly</a:t>
            </a:r>
            <a:r>
              <a:rPr lang="ro-RO" dirty="0">
                <a:latin typeface="Sitka Text"/>
                <a:ea typeface="+mn-lt"/>
                <a:cs typeface="+mn-lt"/>
              </a:rPr>
              <a:t> </a:t>
            </a:r>
            <a:r>
              <a:rPr lang="ro-RO" err="1">
                <a:latin typeface="Sitka Text"/>
                <a:ea typeface="+mn-lt"/>
                <a:cs typeface="+mn-lt"/>
              </a:rPr>
              <a:t>detection</a:t>
            </a:r>
            <a:r>
              <a:rPr lang="ro-RO" dirty="0">
                <a:latin typeface="Sitka Text"/>
                <a:ea typeface="+mn-lt"/>
                <a:cs typeface="+mn-lt"/>
              </a:rPr>
              <a:t>.</a:t>
            </a:r>
          </a:p>
          <a:p>
            <a:pPr marL="0" indent="0">
              <a:spcBef>
                <a:spcPts val="2500"/>
              </a:spcBef>
              <a:buNone/>
            </a:pPr>
            <a:r>
              <a:rPr lang="ro-RO" b="1" err="1">
                <a:latin typeface="Aharoni"/>
                <a:ea typeface="+mn-lt"/>
                <a:cs typeface="Aharoni"/>
              </a:rPr>
              <a:t>Recording</a:t>
            </a:r>
            <a:r>
              <a:rPr lang="ro-RO" b="1" dirty="0">
                <a:latin typeface="Aharoni"/>
                <a:ea typeface="+mn-lt"/>
                <a:cs typeface="Aharoni"/>
              </a:rPr>
              <a:t> </a:t>
            </a:r>
            <a:r>
              <a:rPr lang="ro-RO" b="1" err="1">
                <a:latin typeface="Aharoni"/>
                <a:ea typeface="+mn-lt"/>
                <a:cs typeface="Aharoni"/>
              </a:rPr>
              <a:t>anomalies</a:t>
            </a:r>
            <a:endParaRPr lang="ro-RO" b="1" err="1">
              <a:latin typeface="Aharoni"/>
              <a:cs typeface="Aharoni"/>
            </a:endParaRPr>
          </a:p>
          <a:p>
            <a:pPr marL="0" lvl="1" indent="0">
              <a:buNone/>
            </a:pPr>
            <a:r>
              <a:rPr lang="ro-RO" err="1">
                <a:latin typeface="Sitka Text"/>
                <a:ea typeface="+mn-lt"/>
                <a:cs typeface="+mn-lt"/>
              </a:rPr>
              <a:t>Detected</a:t>
            </a:r>
            <a:r>
              <a:rPr lang="ro-RO" dirty="0">
                <a:latin typeface="Sitka Text"/>
                <a:ea typeface="+mn-lt"/>
                <a:cs typeface="+mn-lt"/>
              </a:rPr>
              <a:t> </a:t>
            </a:r>
            <a:r>
              <a:rPr lang="ro-RO" err="1">
                <a:latin typeface="Sitka Text"/>
                <a:ea typeface="+mn-lt"/>
                <a:cs typeface="+mn-lt"/>
              </a:rPr>
              <a:t>anomalies</a:t>
            </a:r>
            <a:r>
              <a:rPr lang="ro-RO" dirty="0">
                <a:latin typeface="Sitka Text"/>
                <a:ea typeface="+mn-lt"/>
                <a:cs typeface="+mn-lt"/>
              </a:rPr>
              <a:t> are </a:t>
            </a:r>
            <a:r>
              <a:rPr lang="ro-RO" err="1">
                <a:latin typeface="Sitka Text"/>
                <a:ea typeface="+mn-lt"/>
                <a:cs typeface="+mn-lt"/>
              </a:rPr>
              <a:t>recorded</a:t>
            </a:r>
            <a:r>
              <a:rPr lang="ro-RO" dirty="0">
                <a:latin typeface="Sitka Text"/>
                <a:ea typeface="+mn-lt"/>
                <a:cs typeface="+mn-lt"/>
              </a:rPr>
              <a:t> in CSV </a:t>
            </a:r>
            <a:r>
              <a:rPr lang="ro-RO" err="1">
                <a:latin typeface="Sitka Text"/>
                <a:ea typeface="+mn-lt"/>
                <a:cs typeface="+mn-lt"/>
              </a:rPr>
              <a:t>files</a:t>
            </a:r>
            <a:r>
              <a:rPr lang="ro-RO" dirty="0">
                <a:latin typeface="Sitka Text"/>
                <a:ea typeface="+mn-lt"/>
                <a:cs typeface="+mn-lt"/>
              </a:rPr>
              <a:t> </a:t>
            </a:r>
            <a:r>
              <a:rPr lang="ro-RO" err="1">
                <a:latin typeface="Sitka Text"/>
                <a:ea typeface="+mn-lt"/>
                <a:cs typeface="+mn-lt"/>
              </a:rPr>
              <a:t>to</a:t>
            </a:r>
            <a:r>
              <a:rPr lang="ro-RO" dirty="0">
                <a:latin typeface="Sitka Text"/>
                <a:ea typeface="+mn-lt"/>
                <a:cs typeface="+mn-lt"/>
              </a:rPr>
              <a:t> </a:t>
            </a:r>
            <a:r>
              <a:rPr lang="ro-RO" err="1">
                <a:latin typeface="Sitka Text"/>
                <a:ea typeface="+mn-lt"/>
                <a:cs typeface="+mn-lt"/>
              </a:rPr>
              <a:t>ensure</a:t>
            </a:r>
            <a:r>
              <a:rPr lang="ro-RO" dirty="0">
                <a:latin typeface="Sitka Text"/>
                <a:ea typeface="+mn-lt"/>
                <a:cs typeface="+mn-lt"/>
              </a:rPr>
              <a:t> </a:t>
            </a:r>
            <a:r>
              <a:rPr lang="ro-RO" err="1">
                <a:latin typeface="Sitka Text"/>
                <a:ea typeface="+mn-lt"/>
                <a:cs typeface="+mn-lt"/>
              </a:rPr>
              <a:t>traceability</a:t>
            </a:r>
            <a:r>
              <a:rPr lang="ro-RO" dirty="0">
                <a:latin typeface="Sitka Text"/>
                <a:ea typeface="+mn-lt"/>
                <a:cs typeface="+mn-lt"/>
              </a:rPr>
              <a:t> </a:t>
            </a:r>
            <a:r>
              <a:rPr lang="ro-RO" err="1">
                <a:latin typeface="Sitka Text"/>
                <a:ea typeface="+mn-lt"/>
                <a:cs typeface="+mn-lt"/>
              </a:rPr>
              <a:t>and</a:t>
            </a:r>
            <a:r>
              <a:rPr lang="ro-RO" dirty="0">
                <a:latin typeface="Sitka Text"/>
                <a:ea typeface="+mn-lt"/>
                <a:cs typeface="+mn-lt"/>
              </a:rPr>
              <a:t> </a:t>
            </a:r>
            <a:r>
              <a:rPr lang="ro-RO" err="1">
                <a:latin typeface="Sitka Text"/>
                <a:ea typeface="+mn-lt"/>
                <a:cs typeface="+mn-lt"/>
              </a:rPr>
              <a:t>subsequent</a:t>
            </a:r>
            <a:r>
              <a:rPr lang="ro-RO" dirty="0">
                <a:latin typeface="Sitka Text"/>
                <a:ea typeface="+mn-lt"/>
                <a:cs typeface="+mn-lt"/>
              </a:rPr>
              <a:t> data </a:t>
            </a:r>
            <a:r>
              <a:rPr lang="ro-RO" err="1">
                <a:latin typeface="Sitka Text"/>
                <a:ea typeface="+mn-lt"/>
                <a:cs typeface="+mn-lt"/>
              </a:rPr>
              <a:t>analysis</a:t>
            </a:r>
            <a:r>
              <a:rPr lang="ro-RO" dirty="0">
                <a:latin typeface="Sitka Text"/>
                <a:ea typeface="+mn-lt"/>
                <a:cs typeface="+mn-lt"/>
              </a:rPr>
              <a:t>.</a:t>
            </a:r>
          </a:p>
        </p:txBody>
      </p:sp>
    </p:spTree>
    <p:extLst>
      <p:ext uri="{BB962C8B-B14F-4D97-AF65-F5344CB8AC3E}">
        <p14:creationId xmlns:p14="http://schemas.microsoft.com/office/powerpoint/2010/main" val="215516461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6A37CBE7-6545-3812-646C-B235750C936A}"/>
              </a:ext>
            </a:extLst>
          </p:cNvPr>
          <p:cNvSpPr>
            <a:spLocks noGrp="1"/>
          </p:cNvSpPr>
          <p:nvPr>
            <p:ph type="title"/>
          </p:nvPr>
        </p:nvSpPr>
        <p:spPr>
          <a:xfrm>
            <a:off x="638882" y="568855"/>
            <a:ext cx="4216579" cy="3643854"/>
          </a:xfrm>
        </p:spPr>
        <p:txBody>
          <a:bodyPr vert="horz" lIns="91440" tIns="45720" rIns="91440" bIns="45720" rtlCol="0" anchor="b">
            <a:normAutofit/>
          </a:bodyPr>
          <a:lstStyle/>
          <a:p>
            <a:pPr algn="ctr"/>
            <a:r>
              <a:rPr lang="en-US" dirty="0">
                <a:latin typeface="Broadway"/>
                <a:ea typeface="+mj-lt"/>
                <a:cs typeface="+mj-lt"/>
              </a:rPr>
              <a:t>Results,</a:t>
            </a:r>
            <a:endParaRPr lang="ro-RO" dirty="0">
              <a:latin typeface="Broadway"/>
            </a:endParaRPr>
          </a:p>
          <a:p>
            <a:pPr algn="ctr"/>
            <a:r>
              <a:rPr lang="en-US" dirty="0">
                <a:latin typeface="Broadway"/>
                <a:ea typeface="+mj-lt"/>
                <a:cs typeface="+mj-lt"/>
              </a:rPr>
              <a:t>Limitations, and</a:t>
            </a:r>
            <a:endParaRPr lang="en-US" dirty="0">
              <a:latin typeface="Broadway"/>
            </a:endParaRPr>
          </a:p>
          <a:p>
            <a:pPr algn="ctr"/>
            <a:r>
              <a:rPr lang="en-US" dirty="0">
                <a:latin typeface="Broadway"/>
                <a:ea typeface="+mj-lt"/>
                <a:cs typeface="+mj-lt"/>
              </a:rPr>
              <a:t>Future</a:t>
            </a:r>
            <a:endParaRPr lang="en-US" dirty="0">
              <a:latin typeface="Broadway"/>
            </a:endParaRPr>
          </a:p>
          <a:p>
            <a:pPr algn="ctr"/>
            <a:r>
              <a:rPr lang="en-US" dirty="0">
                <a:latin typeface="Broadway"/>
                <a:ea typeface="+mj-lt"/>
                <a:cs typeface="+mj-lt"/>
              </a:rPr>
              <a:t>Work</a:t>
            </a:r>
            <a:endParaRPr lang="en-US" dirty="0">
              <a:latin typeface="Broadway"/>
            </a:endParaRPr>
          </a:p>
        </p:txBody>
      </p:sp>
      <p:sp>
        <p:nvSpPr>
          <p:cNvPr id="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Substituent conținut 3">
            <a:extLst>
              <a:ext uri="{FF2B5EF4-FFF2-40B4-BE49-F238E27FC236}">
                <a16:creationId xmlns:a16="http://schemas.microsoft.com/office/drawing/2014/main" id="{72B53BA9-937F-470A-9431-5ED1390781D5}"/>
              </a:ext>
            </a:extLst>
          </p:cNvPr>
          <p:cNvGraphicFramePr>
            <a:graphicFrameLocks noGrp="1"/>
          </p:cNvGraphicFramePr>
          <p:nvPr>
            <p:ph idx="1"/>
            <p:extLst>
              <p:ext uri="{D42A27DB-BD31-4B8C-83A1-F6EECF244321}">
                <p14:modId xmlns:p14="http://schemas.microsoft.com/office/powerpoint/2010/main" val="8783007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386539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3DBBAE-B6E1-02F7-807C-1FE794443F0A}"/>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337940BB-FBC4-492E-BD92-3B7B914D0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AB1553D3-D17E-A082-9969-E939CA453871}"/>
              </a:ext>
            </a:extLst>
          </p:cNvPr>
          <p:cNvSpPr>
            <a:spLocks noGrp="1"/>
          </p:cNvSpPr>
          <p:nvPr>
            <p:ph type="title"/>
          </p:nvPr>
        </p:nvSpPr>
        <p:spPr>
          <a:xfrm>
            <a:off x="4853988" y="320041"/>
            <a:ext cx="6707084" cy="3892668"/>
          </a:xfrm>
        </p:spPr>
        <p:txBody>
          <a:bodyPr vert="horz" lIns="91440" tIns="45720" rIns="91440" bIns="45720" rtlCol="0" anchor="b">
            <a:normAutofit/>
          </a:bodyPr>
          <a:lstStyle/>
          <a:p>
            <a:r>
              <a:rPr lang="en-US" dirty="0">
                <a:latin typeface="Broadway"/>
              </a:rPr>
              <a:t>Thank you for your attention!</a:t>
            </a:r>
          </a:p>
        </p:txBody>
      </p:sp>
      <p:pic>
        <p:nvPicPr>
          <p:cNvPr id="20" name="Graphic 19" descr="Smiling Face with No Fill">
            <a:extLst>
              <a:ext uri="{FF2B5EF4-FFF2-40B4-BE49-F238E27FC236}">
                <a16:creationId xmlns:a16="http://schemas.microsoft.com/office/drawing/2014/main" id="{AFBBEC94-1602-65B0-8259-449F639225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0040" y="1226248"/>
            <a:ext cx="4087368" cy="4087368"/>
          </a:xfrm>
          <a:prstGeom prst="rect">
            <a:avLst/>
          </a:prstGeom>
        </p:spPr>
      </p:pic>
      <p:sp>
        <p:nvSpPr>
          <p:cNvPr id="3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987" y="4409267"/>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2301464"/>
      </p:ext>
    </p:extLst>
  </p:cSld>
  <p:clrMapOvr>
    <a:masterClrMapping/>
  </p:clrMapOvr>
  <p:transition>
    <p:fade/>
  </p:transition>
</p:sld>
</file>

<file path=ppt/theme/theme1.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Ecran lat</PresentationFormat>
  <Paragraphs>0</Paragraphs>
  <Slides>6</Slides>
  <Notes>6</Notes>
  <HiddenSlides>0</HiddenSlides>
  <MMClips>0</MMClips>
  <ScaleCrop>false</ScaleCrop>
  <HeadingPairs>
    <vt:vector size="4" baseType="variant">
      <vt:variant>
        <vt:lpstr>Temă</vt:lpstr>
      </vt:variant>
      <vt:variant>
        <vt:i4>1</vt:i4>
      </vt:variant>
      <vt:variant>
        <vt:lpstr>Titluri diapozitive</vt:lpstr>
      </vt:variant>
      <vt:variant>
        <vt:i4>6</vt:i4>
      </vt:variant>
    </vt:vector>
  </HeadingPairs>
  <TitlesOfParts>
    <vt:vector size="7" baseType="lpstr">
      <vt:lpstr>Temă Office</vt:lpstr>
      <vt:lpstr>Real-Time Water Quality Monitoring System Using Edge Intelligence</vt:lpstr>
      <vt:lpstr>Overview and Project Goal</vt:lpstr>
      <vt:lpstr>Edge Intelligence and Adaptive Thresholds</vt:lpstr>
      <vt:lpstr>System Design and Software Implementation</vt:lpstr>
      <vt:lpstr>Results, Limitations, and Future Work</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96</cp:revision>
  <dcterms:created xsi:type="dcterms:W3CDTF">2026-01-12T17:43:24Z</dcterms:created>
  <dcterms:modified xsi:type="dcterms:W3CDTF">2026-01-12T18:18:36Z</dcterms:modified>
</cp:coreProperties>
</file>